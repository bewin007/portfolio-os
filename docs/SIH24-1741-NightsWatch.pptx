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6858000" cx="12192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Oswald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iZbeeIE6I5UEn/6UOdyjkdT8VYv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Gifton Paul Immanuel URK21CS5054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B750E1-EB1F-4385-9C87-6BE98FB6632B}">
  <a:tblStyle styleId="{8CB750E1-EB1F-4385-9C87-6BE98FB6632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C86D91F-FA69-41A3-A196-3E8F176B5D3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commentAuthors" Target="commentAuthors.xml"/><Relationship Id="rId19" Type="http://schemas.openxmlformats.org/officeDocument/2006/relationships/font" Target="fonts/Oswald-bold.fntdata"/><Relationship Id="rId6" Type="http://schemas.openxmlformats.org/officeDocument/2006/relationships/slideMaster" Target="slideMasters/slideMaster1.xml"/><Relationship Id="rId18" Type="http://schemas.openxmlformats.org/officeDocument/2006/relationships/font" Target="fonts/Oswald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09-03T13:55:34.824">
    <p:pos x="6000" y="0"/>
    <p:text>Old solution:
------------
To create a endpoint firewall solution with a centralized dashboard for enforcing dynamic policies based on LLM based context-aware policy generation logic using RAG, and for monitoring traffic, metrics and logs received via optimized REST APIs, from a lightweight EDR agent running as a service on every endpoint of the organization utilizing AI/ML for real-time anomaly detection using cyber threat intelligence.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UuqsFEg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hyperlink" Target="https://youtu.be/b7d6aRaLzPo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lilianweng.github.io/posts/2023-06-23-agent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854891" y="1715881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>
            <p:ph type="ctrTitle"/>
          </p:nvPr>
        </p:nvSpPr>
        <p:spPr>
          <a:xfrm>
            <a:off x="572725" y="279713"/>
            <a:ext cx="100584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SMART INDIA HACKATHON 2024</a:t>
            </a:r>
            <a:endParaRPr b="1" sz="3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28686" y="4358050"/>
            <a:ext cx="5924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 174</a:t>
            </a:r>
            <a:r>
              <a:rPr b="1" lang="en-US" sz="1100">
                <a:solidFill>
                  <a:schemeClr val="dk1"/>
                </a:solidFill>
              </a:rPr>
              <a:t>1</a:t>
            </a:r>
            <a:endParaRPr sz="100"/>
          </a:p>
          <a:p>
            <a:pPr indent="-20320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 </a:t>
            </a:r>
            <a:r>
              <a:rPr b="1" lang="en-US" sz="1100">
                <a:solidFill>
                  <a:srgbClr val="212529"/>
                </a:solidFill>
                <a:highlight>
                  <a:srgbClr val="FFFFFF"/>
                </a:highlight>
              </a:rPr>
              <a:t>Centralized application-context aware firewall</a:t>
            </a:r>
            <a:endParaRPr b="1" sz="200"/>
          </a:p>
          <a:p>
            <a:pPr indent="-20320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 </a:t>
            </a:r>
            <a:r>
              <a:rPr b="1" lang="en-US" sz="1100">
                <a:solidFill>
                  <a:schemeClr val="dk1"/>
                </a:solidFill>
              </a:rPr>
              <a:t>Blockchain &amp; Cybersecurity</a:t>
            </a:r>
            <a:endParaRPr sz="100"/>
          </a:p>
          <a:p>
            <a:pPr indent="-20320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b="1" lang="en-US" sz="1100">
                <a:solidFill>
                  <a:schemeClr val="dk1"/>
                </a:solidFill>
              </a:rPr>
              <a:t>Team ID: K24030</a:t>
            </a:r>
            <a:endParaRPr b="1" sz="1100">
              <a:solidFill>
                <a:schemeClr val="dk1"/>
              </a:solidFill>
            </a:endParaRPr>
          </a:p>
          <a:p>
            <a:pPr indent="-20320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</a:t>
            </a:r>
            <a:r>
              <a:rPr b="1" lang="en-US" sz="1100">
                <a:solidFill>
                  <a:schemeClr val="dk1"/>
                </a:solidFill>
              </a:rPr>
              <a:t>: Night’s Watch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5">
            <a:alphaModFix/>
          </a:blip>
          <a:srcRect b="38119" l="0" r="0" t="39098"/>
          <a:stretch/>
        </p:blipFill>
        <p:spPr>
          <a:xfrm>
            <a:off x="27750" y="3669274"/>
            <a:ext cx="3023151" cy="68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6634275"/>
            <a:ext cx="12192000" cy="2238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40200" y="774700"/>
            <a:ext cx="10834200" cy="1069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chemeClr val="dk1"/>
                </a:solidFill>
              </a:rPr>
              <a:t>What?</a:t>
            </a:r>
            <a:endParaRPr b="1" sz="1150">
              <a:solidFill>
                <a:schemeClr val="dk1"/>
              </a:solidFill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</a:rPr>
              <a:t>To create a </a:t>
            </a:r>
            <a:r>
              <a:rPr b="1" lang="en-US" sz="1150">
                <a:solidFill>
                  <a:schemeClr val="dk1"/>
                </a:solidFill>
              </a:rPr>
              <a:t>lightweight agent s/w</a:t>
            </a:r>
            <a:r>
              <a:rPr lang="en-US" sz="1150">
                <a:solidFill>
                  <a:schemeClr val="dk1"/>
                </a:solidFill>
              </a:rPr>
              <a:t> and an </a:t>
            </a:r>
            <a:r>
              <a:rPr b="1" lang="en-US" sz="1150">
                <a:solidFill>
                  <a:schemeClr val="dk1"/>
                </a:solidFill>
              </a:rPr>
              <a:t>endpoint firewall server</a:t>
            </a:r>
            <a:r>
              <a:rPr lang="en-US" sz="1150">
                <a:solidFill>
                  <a:schemeClr val="dk1"/>
                </a:solidFill>
              </a:rPr>
              <a:t> with a </a:t>
            </a:r>
            <a:r>
              <a:rPr b="1" lang="en-US" sz="1150">
                <a:solidFill>
                  <a:schemeClr val="dk1"/>
                </a:solidFill>
              </a:rPr>
              <a:t>centralized dashboard</a:t>
            </a:r>
            <a:r>
              <a:rPr lang="en-US" sz="1150">
                <a:solidFill>
                  <a:schemeClr val="dk1"/>
                </a:solidFill>
              </a:rPr>
              <a:t> featuring </a:t>
            </a:r>
            <a:r>
              <a:rPr b="1" lang="en-US" sz="1150">
                <a:solidFill>
                  <a:schemeClr val="dk1"/>
                </a:solidFill>
              </a:rPr>
              <a:t>context-aware</a:t>
            </a:r>
            <a:r>
              <a:rPr lang="en-US" sz="1150">
                <a:solidFill>
                  <a:schemeClr val="dk1"/>
                </a:solidFill>
              </a:rPr>
              <a:t> dynamic firewall policies/rule generation using </a:t>
            </a:r>
            <a:r>
              <a:rPr b="1" lang="en-US" sz="1150">
                <a:solidFill>
                  <a:schemeClr val="dk1"/>
                </a:solidFill>
              </a:rPr>
              <a:t>Retrieval Augmented Generation </a:t>
            </a:r>
            <a:r>
              <a:rPr lang="en-US" sz="1150">
                <a:solidFill>
                  <a:schemeClr val="dk1"/>
                </a:solidFill>
              </a:rPr>
              <a:t>with a</a:t>
            </a:r>
            <a:r>
              <a:rPr b="1" lang="en-US" sz="1150">
                <a:solidFill>
                  <a:schemeClr val="dk1"/>
                </a:solidFill>
              </a:rPr>
              <a:t> Large Language Model</a:t>
            </a:r>
            <a:r>
              <a:rPr lang="en-US" sz="1150">
                <a:solidFill>
                  <a:schemeClr val="dk1"/>
                </a:solidFill>
              </a:rPr>
              <a:t>. The </a:t>
            </a:r>
            <a:r>
              <a:rPr b="1" lang="en-US" sz="1150">
                <a:solidFill>
                  <a:schemeClr val="dk1"/>
                </a:solidFill>
              </a:rPr>
              <a:t>Lightweight agent software</a:t>
            </a:r>
            <a:r>
              <a:rPr lang="en-US" sz="1150">
                <a:solidFill>
                  <a:schemeClr val="dk1"/>
                </a:solidFill>
              </a:rPr>
              <a:t> running as a service on </a:t>
            </a:r>
            <a:r>
              <a:rPr b="1" lang="en-US" sz="1150">
                <a:solidFill>
                  <a:schemeClr val="dk1"/>
                </a:solidFill>
              </a:rPr>
              <a:t>every endpoint </a:t>
            </a:r>
            <a:r>
              <a:rPr lang="en-US" sz="1150">
                <a:solidFill>
                  <a:schemeClr val="dk1"/>
                </a:solidFill>
              </a:rPr>
              <a:t>of the organization </a:t>
            </a:r>
            <a:r>
              <a:rPr b="1" lang="en-US" sz="1150">
                <a:solidFill>
                  <a:schemeClr val="dk1"/>
                </a:solidFill>
              </a:rPr>
              <a:t>enforces firewall policies</a:t>
            </a:r>
            <a:r>
              <a:rPr lang="en-US" sz="1150">
                <a:solidFill>
                  <a:schemeClr val="dk1"/>
                </a:solidFill>
              </a:rPr>
              <a:t> received from the firewall and </a:t>
            </a:r>
            <a:r>
              <a:rPr b="1" lang="en-US" sz="1150">
                <a:solidFill>
                  <a:schemeClr val="dk1"/>
                </a:solidFill>
              </a:rPr>
              <a:t>blocks anomalous network events</a:t>
            </a:r>
            <a:r>
              <a:rPr lang="en-US" sz="1150">
                <a:solidFill>
                  <a:schemeClr val="dk1"/>
                </a:solidFill>
              </a:rPr>
              <a:t> with </a:t>
            </a:r>
            <a:r>
              <a:rPr b="1" lang="en-US" sz="1150">
                <a:solidFill>
                  <a:schemeClr val="dk1"/>
                </a:solidFill>
              </a:rPr>
              <a:t>specialized machine learning model </a:t>
            </a:r>
            <a:r>
              <a:rPr lang="en-US" sz="1150">
                <a:solidFill>
                  <a:schemeClr val="dk1"/>
                </a:solidFill>
              </a:rPr>
              <a:t>continuously improved with </a:t>
            </a:r>
            <a:r>
              <a:rPr b="1" lang="en-US" sz="1150">
                <a:solidFill>
                  <a:schemeClr val="dk1"/>
                </a:solidFill>
              </a:rPr>
              <a:t>historical network data</a:t>
            </a:r>
            <a:r>
              <a:rPr lang="en-US" sz="1150">
                <a:solidFill>
                  <a:schemeClr val="dk1"/>
                </a:solidFill>
              </a:rPr>
              <a:t> and </a:t>
            </a:r>
            <a:r>
              <a:rPr b="1" lang="en-US" sz="1150">
                <a:solidFill>
                  <a:schemeClr val="dk1"/>
                </a:solidFill>
              </a:rPr>
              <a:t>Cyber Threat Intelligence.</a:t>
            </a:r>
            <a:endParaRPr b="1" sz="1150">
              <a:solidFill>
                <a:srgbClr val="444746"/>
              </a:solidFill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-1" y="141884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2"/>
                </a:solidFill>
              </a:rPr>
              <a:t>Proposed Solution</a:t>
            </a:r>
            <a:endParaRPr b="1"/>
          </a:p>
        </p:txBody>
      </p:sp>
      <p:sp>
        <p:nvSpPr>
          <p:cNvPr id="102" name="Google Shape;102;p2"/>
          <p:cNvSpPr txBox="1"/>
          <p:nvPr>
            <p:ph idx="12" type="sldNum"/>
          </p:nvPr>
        </p:nvSpPr>
        <p:spPr>
          <a:xfrm>
            <a:off x="8737600" y="6492866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2"/>
          <p:cNvSpPr txBox="1"/>
          <p:nvPr>
            <p:ph idx="11" type="ftr"/>
          </p:nvPr>
        </p:nvSpPr>
        <p:spPr>
          <a:xfrm>
            <a:off x="4755575" y="6634126"/>
            <a:ext cx="32040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Nights Watch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2776" y="0"/>
            <a:ext cx="1960574" cy="100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640200" y="5575825"/>
            <a:ext cx="3412200" cy="8928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chemeClr val="dk1"/>
                </a:solidFill>
              </a:rPr>
              <a:t>Retrieval Augmented Generation</a:t>
            </a:r>
            <a:r>
              <a:rPr lang="en-US" sz="1250">
                <a:solidFill>
                  <a:schemeClr val="dk1"/>
                </a:solidFill>
              </a:rPr>
              <a:t> and </a:t>
            </a:r>
            <a:r>
              <a:rPr b="1" lang="en-US" sz="1250">
                <a:solidFill>
                  <a:schemeClr val="dk1"/>
                </a:solidFill>
              </a:rPr>
              <a:t>Enforcement</a:t>
            </a:r>
            <a:r>
              <a:rPr lang="en-US" sz="1250">
                <a:solidFill>
                  <a:schemeClr val="dk1"/>
                </a:solidFill>
              </a:rPr>
              <a:t> of </a:t>
            </a:r>
            <a:r>
              <a:rPr b="1" lang="en-US" sz="1250">
                <a:solidFill>
                  <a:schemeClr val="dk1"/>
                </a:solidFill>
              </a:rPr>
              <a:t>dynamic firewall policies</a:t>
            </a:r>
            <a:r>
              <a:rPr lang="en-US" sz="1250">
                <a:solidFill>
                  <a:schemeClr val="dk1"/>
                </a:solidFill>
              </a:rPr>
              <a:t> based on </a:t>
            </a:r>
            <a:r>
              <a:rPr b="1" lang="en-US" sz="1250">
                <a:solidFill>
                  <a:schemeClr val="dk1"/>
                </a:solidFill>
              </a:rPr>
              <a:t>network-context </a:t>
            </a:r>
            <a:r>
              <a:rPr lang="en-US" sz="1250">
                <a:solidFill>
                  <a:schemeClr val="dk1"/>
                </a:solidFill>
              </a:rPr>
              <a:t>from historical data utilizing a </a:t>
            </a:r>
            <a:r>
              <a:rPr b="1" lang="en-US" sz="1250">
                <a:solidFill>
                  <a:schemeClr val="dk1"/>
                </a:solidFill>
              </a:rPr>
              <a:t>fine-tuned LLM model</a:t>
            </a:r>
            <a:r>
              <a:rPr lang="en-US" sz="1250">
                <a:solidFill>
                  <a:schemeClr val="dk1"/>
                </a:solidFill>
              </a:rPr>
              <a:t>. 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chemeClr val="dk1"/>
              </a:solidFill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640200" y="2923825"/>
            <a:ext cx="10834200" cy="22488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50">
                <a:solidFill>
                  <a:schemeClr val="dk1"/>
                </a:solidFill>
              </a:rPr>
              <a:t>Features:</a:t>
            </a:r>
            <a:endParaRPr b="1" sz="1150">
              <a:solidFill>
                <a:schemeClr val="dk1"/>
              </a:solidFill>
            </a:endParaRPr>
          </a:p>
          <a:p>
            <a:pPr indent="-30162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❖"/>
            </a:pPr>
            <a:r>
              <a:rPr b="1" lang="en-US" sz="1150">
                <a:solidFill>
                  <a:schemeClr val="dk1"/>
                </a:solidFill>
              </a:rPr>
              <a:t>Application level</a:t>
            </a:r>
            <a:r>
              <a:rPr lang="en-US" sz="1150">
                <a:solidFill>
                  <a:schemeClr val="dk1"/>
                </a:solidFill>
              </a:rPr>
              <a:t> granular firewall policies utilizing </a:t>
            </a:r>
            <a:r>
              <a:rPr b="1" lang="en-US" sz="1150">
                <a:solidFill>
                  <a:schemeClr val="dk1"/>
                </a:solidFill>
              </a:rPr>
              <a:t>Windows API </a:t>
            </a:r>
            <a:r>
              <a:rPr lang="en-US" sz="1150">
                <a:solidFill>
                  <a:schemeClr val="dk1"/>
                </a:solidFill>
              </a:rPr>
              <a:t>for:</a:t>
            </a:r>
            <a:endParaRPr sz="1150">
              <a:solidFill>
                <a:schemeClr val="dk1"/>
              </a:solidFill>
            </a:endParaRPr>
          </a:p>
          <a:p>
            <a:pPr indent="-301625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➢"/>
            </a:pPr>
            <a:r>
              <a:rPr b="1" lang="en-US" sz="1150">
                <a:solidFill>
                  <a:schemeClr val="dk1"/>
                </a:solidFill>
              </a:rPr>
              <a:t>Denying</a:t>
            </a:r>
            <a:r>
              <a:rPr lang="en-US" sz="1150">
                <a:solidFill>
                  <a:schemeClr val="dk1"/>
                </a:solidFill>
              </a:rPr>
              <a:t> internet access/ </a:t>
            </a:r>
            <a:r>
              <a:rPr b="1" lang="en-US" sz="1150">
                <a:solidFill>
                  <a:schemeClr val="dk1"/>
                </a:solidFill>
              </a:rPr>
              <a:t>specific established connections</a:t>
            </a:r>
            <a:r>
              <a:rPr lang="en-US" sz="1150">
                <a:solidFill>
                  <a:schemeClr val="dk1"/>
                </a:solidFill>
              </a:rPr>
              <a:t>.</a:t>
            </a:r>
            <a:endParaRPr sz="1150">
              <a:solidFill>
                <a:schemeClr val="dk1"/>
              </a:solidFill>
            </a:endParaRPr>
          </a:p>
          <a:p>
            <a:pPr indent="-301625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➢"/>
            </a:pPr>
            <a:r>
              <a:rPr b="1" lang="en-US" sz="1150">
                <a:solidFill>
                  <a:schemeClr val="dk1"/>
                </a:solidFill>
              </a:rPr>
              <a:t>Port, Protocol</a:t>
            </a:r>
            <a:r>
              <a:rPr lang="en-US" sz="1150">
                <a:solidFill>
                  <a:schemeClr val="dk1"/>
                </a:solidFill>
              </a:rPr>
              <a:t> blocking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❖"/>
            </a:pPr>
            <a:r>
              <a:rPr b="1" lang="en-US" sz="1150">
                <a:solidFill>
                  <a:schemeClr val="dk1"/>
                </a:solidFill>
              </a:rPr>
              <a:t>Application level network monitoring features</a:t>
            </a:r>
            <a:r>
              <a:rPr lang="en-US" sz="1150">
                <a:solidFill>
                  <a:schemeClr val="dk1"/>
                </a:solidFill>
              </a:rPr>
              <a:t> on each endpoint such as:</a:t>
            </a:r>
            <a:endParaRPr sz="1150">
              <a:solidFill>
                <a:schemeClr val="dk1"/>
              </a:solidFill>
            </a:endParaRPr>
          </a:p>
          <a:p>
            <a:pPr indent="-301625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➢"/>
            </a:pPr>
            <a:r>
              <a:rPr lang="en-US" sz="1150">
                <a:solidFill>
                  <a:schemeClr val="dk1"/>
                </a:solidFill>
              </a:rPr>
              <a:t>Hosts </a:t>
            </a:r>
            <a:r>
              <a:rPr b="1" lang="en-US" sz="1150">
                <a:solidFill>
                  <a:schemeClr val="dk1"/>
                </a:solidFill>
              </a:rPr>
              <a:t>(Domains/IPs)</a:t>
            </a:r>
            <a:r>
              <a:rPr lang="en-US" sz="1150">
                <a:solidFill>
                  <a:schemeClr val="dk1"/>
                </a:solidFill>
              </a:rPr>
              <a:t> that are communicating with the application</a:t>
            </a:r>
            <a:endParaRPr sz="1150">
              <a:solidFill>
                <a:schemeClr val="dk1"/>
              </a:solidFill>
            </a:endParaRPr>
          </a:p>
          <a:p>
            <a:pPr indent="-301625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➢"/>
            </a:pPr>
            <a:r>
              <a:rPr b="1" lang="en-US" sz="1150">
                <a:solidFill>
                  <a:schemeClr val="dk1"/>
                </a:solidFill>
              </a:rPr>
              <a:t>Traffic type composition</a:t>
            </a:r>
            <a:r>
              <a:rPr lang="en-US" sz="1150">
                <a:solidFill>
                  <a:schemeClr val="dk1"/>
                </a:solidFill>
              </a:rPr>
              <a:t> with </a:t>
            </a:r>
            <a:r>
              <a:rPr b="1" lang="en-US" sz="1150">
                <a:solidFill>
                  <a:schemeClr val="dk1"/>
                </a:solidFill>
              </a:rPr>
              <a:t>bandwidth metrics</a:t>
            </a:r>
            <a:r>
              <a:rPr lang="en-US" sz="1150">
                <a:solidFill>
                  <a:schemeClr val="dk1"/>
                </a:solidFill>
              </a:rPr>
              <a:t> for </a:t>
            </a:r>
            <a:r>
              <a:rPr b="1" lang="en-US" sz="1150">
                <a:solidFill>
                  <a:schemeClr val="dk1"/>
                </a:solidFill>
              </a:rPr>
              <a:t>each application</a:t>
            </a:r>
            <a:r>
              <a:rPr lang="en-US" sz="1150">
                <a:solidFill>
                  <a:schemeClr val="dk1"/>
                </a:solidFill>
              </a:rPr>
              <a:t> on </a:t>
            </a:r>
            <a:r>
              <a:rPr b="1" lang="en-US" sz="1150">
                <a:solidFill>
                  <a:schemeClr val="dk1"/>
                </a:solidFill>
              </a:rPr>
              <a:t>every endpoint</a:t>
            </a:r>
            <a:endParaRPr b="1" sz="1150">
              <a:solidFill>
                <a:schemeClr val="dk1"/>
              </a:solidFill>
            </a:endParaRPr>
          </a:p>
          <a:p>
            <a:pPr indent="-301625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➢"/>
            </a:pPr>
            <a:r>
              <a:rPr b="1" lang="en-US" sz="1150">
                <a:solidFill>
                  <a:schemeClr val="dk1"/>
                </a:solidFill>
              </a:rPr>
              <a:t>Country-wise</a:t>
            </a:r>
            <a:r>
              <a:rPr lang="en-US" sz="1150">
                <a:solidFill>
                  <a:schemeClr val="dk1"/>
                </a:solidFill>
              </a:rPr>
              <a:t> traffic flow details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❖"/>
            </a:pPr>
            <a:r>
              <a:rPr b="1" lang="en-US" sz="1150">
                <a:solidFill>
                  <a:schemeClr val="dk1"/>
                </a:solidFill>
              </a:rPr>
              <a:t>Alerts pushed </a:t>
            </a:r>
            <a:r>
              <a:rPr lang="en-US" sz="1150">
                <a:solidFill>
                  <a:schemeClr val="dk1"/>
                </a:solidFill>
              </a:rPr>
              <a:t>to the administrator if any </a:t>
            </a:r>
            <a:r>
              <a:rPr b="1" lang="en-US" sz="1150">
                <a:solidFill>
                  <a:schemeClr val="dk1"/>
                </a:solidFill>
              </a:rPr>
              <a:t>anomaly is detected</a:t>
            </a:r>
            <a:r>
              <a:rPr lang="en-US" sz="1150">
                <a:solidFill>
                  <a:schemeClr val="dk1"/>
                </a:solidFill>
              </a:rPr>
              <a:t> in the network with a </a:t>
            </a:r>
            <a:r>
              <a:rPr b="1" lang="en-US" sz="1150">
                <a:solidFill>
                  <a:schemeClr val="dk1"/>
                </a:solidFill>
              </a:rPr>
              <a:t>smart report </a:t>
            </a:r>
            <a:r>
              <a:rPr lang="en-US" sz="1150">
                <a:solidFill>
                  <a:schemeClr val="dk1"/>
                </a:solidFill>
              </a:rPr>
              <a:t>consisting of:</a:t>
            </a:r>
            <a:endParaRPr sz="1150">
              <a:solidFill>
                <a:schemeClr val="dk1"/>
              </a:solidFill>
            </a:endParaRPr>
          </a:p>
          <a:p>
            <a:pPr indent="-301625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➢"/>
            </a:pPr>
            <a:r>
              <a:rPr b="1" lang="en-US" sz="1150">
                <a:solidFill>
                  <a:schemeClr val="dk1"/>
                </a:solidFill>
              </a:rPr>
              <a:t>Timestamp</a:t>
            </a:r>
            <a:r>
              <a:rPr lang="en-US" sz="1150">
                <a:solidFill>
                  <a:schemeClr val="dk1"/>
                </a:solidFill>
              </a:rPr>
              <a:t>, </a:t>
            </a:r>
            <a:r>
              <a:rPr b="1" lang="en-US" sz="1150">
                <a:solidFill>
                  <a:schemeClr val="dk1"/>
                </a:solidFill>
              </a:rPr>
              <a:t>severity score</a:t>
            </a:r>
            <a:r>
              <a:rPr lang="en-US" sz="1150">
                <a:solidFill>
                  <a:schemeClr val="dk1"/>
                </a:solidFill>
              </a:rPr>
              <a:t> and the </a:t>
            </a:r>
            <a:r>
              <a:rPr b="1" lang="en-US" sz="1150">
                <a:solidFill>
                  <a:schemeClr val="dk1"/>
                </a:solidFill>
              </a:rPr>
              <a:t>application that behaves anomalous </a:t>
            </a:r>
            <a:r>
              <a:rPr lang="en-US" sz="1150">
                <a:solidFill>
                  <a:schemeClr val="dk1"/>
                </a:solidFill>
              </a:rPr>
              <a:t>and </a:t>
            </a:r>
            <a:r>
              <a:rPr b="1" lang="en-US" sz="1150">
                <a:solidFill>
                  <a:schemeClr val="dk1"/>
                </a:solidFill>
              </a:rPr>
              <a:t>endpoint details </a:t>
            </a:r>
            <a:r>
              <a:rPr lang="en-US" sz="1150">
                <a:solidFill>
                  <a:schemeClr val="dk1"/>
                </a:solidFill>
              </a:rPr>
              <a:t>like </a:t>
            </a:r>
            <a:r>
              <a:rPr b="1" lang="en-US" sz="1150">
                <a:solidFill>
                  <a:schemeClr val="dk1"/>
                </a:solidFill>
              </a:rPr>
              <a:t>external IP, country of origin </a:t>
            </a:r>
            <a:r>
              <a:rPr lang="en-US" sz="1150">
                <a:solidFill>
                  <a:schemeClr val="dk1"/>
                </a:solidFill>
              </a:rPr>
              <a:t>etc.,</a:t>
            </a:r>
            <a:endParaRPr sz="1150">
              <a:solidFill>
                <a:schemeClr val="dk1"/>
              </a:solidFill>
            </a:endParaRPr>
          </a:p>
          <a:p>
            <a:pPr indent="-301625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➢"/>
            </a:pPr>
            <a:r>
              <a:rPr b="1" lang="en-US" sz="1150">
                <a:solidFill>
                  <a:schemeClr val="dk1"/>
                </a:solidFill>
              </a:rPr>
              <a:t>Smart Response details</a:t>
            </a:r>
            <a:r>
              <a:rPr lang="en-US" sz="1150">
                <a:solidFill>
                  <a:schemeClr val="dk1"/>
                </a:solidFill>
              </a:rPr>
              <a:t> based on </a:t>
            </a:r>
            <a:r>
              <a:rPr b="1" lang="en-US" sz="1150">
                <a:solidFill>
                  <a:schemeClr val="dk1"/>
                </a:solidFill>
              </a:rPr>
              <a:t>MITRE ATT&amp;CK</a:t>
            </a:r>
            <a:r>
              <a:rPr lang="en-US" sz="1150">
                <a:solidFill>
                  <a:schemeClr val="dk1"/>
                </a:solidFill>
              </a:rPr>
              <a:t> 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❖"/>
            </a:pPr>
            <a:r>
              <a:rPr lang="en-US" sz="1150">
                <a:solidFill>
                  <a:schemeClr val="dk1"/>
                </a:solidFill>
              </a:rPr>
              <a:t>Firewall supports </a:t>
            </a:r>
            <a:r>
              <a:rPr b="1" lang="en-US" sz="1150">
                <a:solidFill>
                  <a:schemeClr val="dk1"/>
                </a:solidFill>
              </a:rPr>
              <a:t>effortless migration process</a:t>
            </a:r>
            <a:r>
              <a:rPr lang="en-US" sz="1150">
                <a:solidFill>
                  <a:schemeClr val="dk1"/>
                </a:solidFill>
              </a:rPr>
              <a:t> as it utilizes </a:t>
            </a:r>
            <a:r>
              <a:rPr b="1" lang="en-US" sz="1150">
                <a:solidFill>
                  <a:schemeClr val="dk1"/>
                </a:solidFill>
              </a:rPr>
              <a:t>containerization</a:t>
            </a:r>
            <a:r>
              <a:rPr lang="en-US" sz="1150">
                <a:solidFill>
                  <a:schemeClr val="dk1"/>
                </a:solidFill>
              </a:rPr>
              <a:t>. 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40200" y="1943925"/>
            <a:ext cx="10834200" cy="892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50">
                <a:solidFill>
                  <a:schemeClr val="dk1"/>
                </a:solidFill>
              </a:rPr>
              <a:t>How?</a:t>
            </a:r>
            <a:endParaRPr b="1" sz="1150">
              <a:solidFill>
                <a:schemeClr val="dk1"/>
              </a:solidFill>
            </a:endParaRPr>
          </a:p>
          <a:p>
            <a:pPr indent="-30162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❖"/>
            </a:pPr>
            <a:r>
              <a:rPr lang="en-US" sz="1150">
                <a:solidFill>
                  <a:schemeClr val="dk1"/>
                </a:solidFill>
              </a:rPr>
              <a:t>Extensive endpoint monitoring using </a:t>
            </a:r>
            <a:r>
              <a:rPr b="1" lang="en-US" sz="1150">
                <a:solidFill>
                  <a:schemeClr val="dk1"/>
                </a:solidFill>
              </a:rPr>
              <a:t>custom built Go-based metrics, event logs and traffic collector </a:t>
            </a:r>
            <a:r>
              <a:rPr lang="en-US" sz="1150">
                <a:solidFill>
                  <a:schemeClr val="dk1"/>
                </a:solidFill>
              </a:rPr>
              <a:t>which forwards them to the centralized firewall.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❖"/>
            </a:pPr>
            <a:r>
              <a:rPr lang="en-US" sz="1150">
                <a:solidFill>
                  <a:schemeClr val="dk1"/>
                </a:solidFill>
              </a:rPr>
              <a:t>Responsive </a:t>
            </a:r>
            <a:r>
              <a:rPr b="1" lang="en-US" sz="1150">
                <a:solidFill>
                  <a:schemeClr val="dk1"/>
                </a:solidFill>
              </a:rPr>
              <a:t>go-based EDR agent</a:t>
            </a:r>
            <a:r>
              <a:rPr lang="en-US" sz="1150">
                <a:solidFill>
                  <a:schemeClr val="dk1"/>
                </a:solidFill>
              </a:rPr>
              <a:t> with advanced </a:t>
            </a:r>
            <a:r>
              <a:rPr b="1" lang="en-US" sz="1150">
                <a:solidFill>
                  <a:schemeClr val="dk1"/>
                </a:solidFill>
              </a:rPr>
              <a:t>application level</a:t>
            </a:r>
            <a:r>
              <a:rPr lang="en-US" sz="1150">
                <a:solidFill>
                  <a:schemeClr val="dk1"/>
                </a:solidFill>
              </a:rPr>
              <a:t> firewall policy enforcing capabilities utilizing the </a:t>
            </a:r>
            <a:r>
              <a:rPr b="1" lang="en-US" sz="1150">
                <a:solidFill>
                  <a:schemeClr val="dk1"/>
                </a:solidFill>
              </a:rPr>
              <a:t>Windows API.</a:t>
            </a:r>
            <a:endParaRPr b="1" sz="1150">
              <a:solidFill>
                <a:schemeClr val="dk1"/>
              </a:solidFill>
            </a:endParaRPr>
          </a:p>
          <a:p>
            <a:pPr indent="-30162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❖"/>
            </a:pPr>
            <a:r>
              <a:rPr b="1" lang="en-US" sz="1150">
                <a:solidFill>
                  <a:schemeClr val="dk1"/>
                </a:solidFill>
              </a:rPr>
              <a:t>Intelligent automation</a:t>
            </a:r>
            <a:r>
              <a:rPr lang="en-US" sz="1150">
                <a:solidFill>
                  <a:schemeClr val="dk1"/>
                </a:solidFill>
              </a:rPr>
              <a:t> of </a:t>
            </a:r>
            <a:r>
              <a:rPr b="1" lang="en-US" sz="1150">
                <a:solidFill>
                  <a:schemeClr val="dk1"/>
                </a:solidFill>
              </a:rPr>
              <a:t>SOC operations</a:t>
            </a:r>
            <a:r>
              <a:rPr lang="en-US" sz="1150">
                <a:solidFill>
                  <a:schemeClr val="dk1"/>
                </a:solidFill>
              </a:rPr>
              <a:t> powered by </a:t>
            </a:r>
            <a:r>
              <a:rPr b="1" lang="en-US" sz="1150">
                <a:solidFill>
                  <a:schemeClr val="dk1"/>
                </a:solidFill>
              </a:rPr>
              <a:t>LLM agents</a:t>
            </a:r>
            <a:r>
              <a:rPr lang="en-US" sz="1150">
                <a:solidFill>
                  <a:schemeClr val="dk1"/>
                </a:solidFill>
              </a:rPr>
              <a:t> 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270300" y="5575825"/>
            <a:ext cx="3204000" cy="8928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chemeClr val="dk1"/>
                </a:solidFill>
              </a:rPr>
              <a:t>Ensemble Model </a:t>
            </a:r>
            <a:r>
              <a:rPr lang="en-US" sz="1250">
                <a:solidFill>
                  <a:schemeClr val="dk1"/>
                </a:solidFill>
              </a:rPr>
              <a:t>continuously trained on </a:t>
            </a:r>
            <a:r>
              <a:rPr b="1" lang="en-US" sz="1250">
                <a:solidFill>
                  <a:schemeClr val="dk1"/>
                </a:solidFill>
              </a:rPr>
              <a:t>historical network data</a:t>
            </a:r>
            <a:r>
              <a:rPr lang="en-US" sz="1250">
                <a:solidFill>
                  <a:schemeClr val="dk1"/>
                </a:solidFill>
              </a:rPr>
              <a:t> for </a:t>
            </a:r>
            <a:r>
              <a:rPr b="1" lang="en-US" sz="1250">
                <a:solidFill>
                  <a:schemeClr val="dk1"/>
                </a:solidFill>
              </a:rPr>
              <a:t>real-time anomaly detection </a:t>
            </a:r>
            <a:r>
              <a:rPr lang="en-US" sz="1250">
                <a:solidFill>
                  <a:schemeClr val="dk1"/>
                </a:solidFill>
              </a:rPr>
              <a:t>and </a:t>
            </a:r>
            <a:r>
              <a:rPr b="1" lang="en-US" sz="1250">
                <a:solidFill>
                  <a:schemeClr val="dk1"/>
                </a:solidFill>
              </a:rPr>
              <a:t>responding</a:t>
            </a:r>
            <a:r>
              <a:rPr lang="en-US" sz="1250">
                <a:solidFill>
                  <a:schemeClr val="dk1"/>
                </a:solidFill>
              </a:rPr>
              <a:t> to them with </a:t>
            </a:r>
            <a:r>
              <a:rPr b="1" lang="en-US" sz="1250">
                <a:solidFill>
                  <a:schemeClr val="dk1"/>
                </a:solidFill>
              </a:rPr>
              <a:t>higher accuracy</a:t>
            </a:r>
            <a:r>
              <a:rPr lang="en-US" sz="1250">
                <a:solidFill>
                  <a:schemeClr val="dk1"/>
                </a:solidFill>
              </a:rPr>
              <a:t>.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444746"/>
              </a:solidFill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4140900" y="5567050"/>
            <a:ext cx="4062600" cy="892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</a:rPr>
              <a:t>Integration of </a:t>
            </a:r>
            <a:r>
              <a:rPr b="1" lang="en-US" sz="1250">
                <a:solidFill>
                  <a:schemeClr val="dk1"/>
                </a:solidFill>
              </a:rPr>
              <a:t>open-source CTI feeds</a:t>
            </a:r>
            <a:r>
              <a:rPr lang="en-US" sz="1250">
                <a:solidFill>
                  <a:schemeClr val="dk1"/>
                </a:solidFill>
              </a:rPr>
              <a:t> from sources like </a:t>
            </a:r>
            <a:r>
              <a:rPr b="1" lang="en-US" sz="1250">
                <a:solidFill>
                  <a:schemeClr val="dk1"/>
                </a:solidFill>
              </a:rPr>
              <a:t>CVE , AlienVault, MISP, NIST, etc.,</a:t>
            </a:r>
            <a:r>
              <a:rPr lang="en-US" sz="1250">
                <a:solidFill>
                  <a:schemeClr val="dk1"/>
                </a:solidFill>
              </a:rPr>
              <a:t> into the </a:t>
            </a:r>
            <a:r>
              <a:rPr b="1" lang="en-US" sz="1250">
                <a:solidFill>
                  <a:schemeClr val="dk1"/>
                </a:solidFill>
              </a:rPr>
              <a:t>firewall’s database</a:t>
            </a:r>
            <a:r>
              <a:rPr lang="en-US" sz="1250">
                <a:solidFill>
                  <a:schemeClr val="dk1"/>
                </a:solidFill>
              </a:rPr>
              <a:t> </a:t>
            </a:r>
            <a:r>
              <a:rPr b="1" lang="en-US" sz="1250">
                <a:solidFill>
                  <a:schemeClr val="dk1"/>
                </a:solidFill>
              </a:rPr>
              <a:t>dynamically</a:t>
            </a:r>
            <a:r>
              <a:rPr lang="en-US" sz="1250">
                <a:solidFill>
                  <a:schemeClr val="dk1"/>
                </a:solidFill>
              </a:rPr>
              <a:t> for instant detection and response for </a:t>
            </a:r>
            <a:r>
              <a:rPr b="1" lang="en-US" sz="1250">
                <a:solidFill>
                  <a:schemeClr val="dk1"/>
                </a:solidFill>
              </a:rPr>
              <a:t>brand-new threats</a:t>
            </a:r>
            <a:r>
              <a:rPr lang="en-US" sz="1250">
                <a:solidFill>
                  <a:schemeClr val="dk1"/>
                </a:solidFill>
              </a:rPr>
              <a:t>.</a:t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-607100" y="5162188"/>
            <a:ext cx="3517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b="1" lang="en-US" sz="1650">
                <a:solidFill>
                  <a:schemeClr val="dk1"/>
                </a:solidFill>
              </a:rPr>
              <a:t>Novelties</a:t>
            </a:r>
            <a:endParaRPr i="0" sz="16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/>
        </p:nvSpPr>
        <p:spPr>
          <a:xfrm>
            <a:off x="4131913" y="1151325"/>
            <a:ext cx="785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-1" y="-76204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dk2"/>
                </a:solidFill>
              </a:rPr>
              <a:t>Technical Approach</a:t>
            </a:r>
            <a:endParaRPr b="1" sz="2900"/>
          </a:p>
        </p:txBody>
      </p:sp>
      <p:sp>
        <p:nvSpPr>
          <p:cNvPr id="118" name="Google Shape;118;p3"/>
          <p:cNvSpPr/>
          <p:nvPr/>
        </p:nvSpPr>
        <p:spPr>
          <a:xfrm>
            <a:off x="0" y="6632800"/>
            <a:ext cx="12192000" cy="2253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>
            <p:ph idx="11" type="ftr"/>
          </p:nvPr>
        </p:nvSpPr>
        <p:spPr>
          <a:xfrm>
            <a:off x="8846475" y="6549566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>
                <a:solidFill>
                  <a:srgbClr val="FFFFFF"/>
                </a:solidFill>
              </a:rPr>
              <a:t>3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0" name="Google Shape;120;p3"/>
          <p:cNvSpPr txBox="1"/>
          <p:nvPr>
            <p:ph idx="11" type="ftr"/>
          </p:nvPr>
        </p:nvSpPr>
        <p:spPr>
          <a:xfrm>
            <a:off x="4662625" y="6632674"/>
            <a:ext cx="31593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>
                <a:solidFill>
                  <a:srgbClr val="FFFFFF"/>
                </a:solidFill>
              </a:rPr>
              <a:t>Night's Watch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1" name="Google Shape;1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" name="Google Shape;122;p3"/>
          <p:cNvGraphicFramePr/>
          <p:nvPr/>
        </p:nvGraphicFramePr>
        <p:xfrm>
          <a:off x="4429975" y="389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{8CB750E1-EB1F-4385-9C87-6BE98FB6632B}</a:tableStyleId>
              </a:tblPr>
              <a:tblGrid>
                <a:gridCol w="1335725"/>
                <a:gridCol w="4780200"/>
                <a:gridCol w="1512925"/>
              </a:tblGrid>
              <a:tr h="276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Dataset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Description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Number of features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573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CSECIC-IDS2018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The dataset includes network logs from different attack scenarios  Brute-force, Heartbleed, Botnet, DoS, DDoS, Web attacks, and infiltration of the network from inside.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80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52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ISCX-Botnet-2014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Botnet traffic generated by the Malware Capture Facility Project, a research project with the purpose of generating and capturing botnet traces in long term.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19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6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CIC-UNSW-NB15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Usage of IXIA perfectstorm tool to capture 100GBs of network traffic in two days, and to extract features from the captured network traffic, they used Argus and Bro-IDS tools.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47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49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PerimeterX TestBed Dataset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Custom made network dataset generated from testbed sandboxes with recent network-based malware families.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50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/>
        </p:nvSpPr>
        <p:spPr>
          <a:xfrm>
            <a:off x="-209500" y="1463875"/>
            <a:ext cx="1015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828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0" y="6663525"/>
            <a:ext cx="12192000" cy="1944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>
            <p:ph type="title"/>
          </p:nvPr>
        </p:nvSpPr>
        <p:spPr>
          <a:xfrm>
            <a:off x="609600" y="-943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Feasibility And Viability</a:t>
            </a:r>
            <a:endParaRPr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2" name="Google Shape;132;p4"/>
          <p:cNvSpPr txBox="1"/>
          <p:nvPr>
            <p:ph idx="11" type="ftr"/>
          </p:nvPr>
        </p:nvSpPr>
        <p:spPr>
          <a:xfrm>
            <a:off x="4648200" y="6721473"/>
            <a:ext cx="3204000" cy="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>
                <a:solidFill>
                  <a:srgbClr val="FFFFFF"/>
                </a:solidFill>
              </a:rPr>
              <a:t>Night's</a:t>
            </a:r>
            <a:r>
              <a:rPr lang="en-US">
                <a:solidFill>
                  <a:srgbClr val="FFFFFF"/>
                </a:solidFill>
              </a:rPr>
              <a:t> Watch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3" name="Google Shape;1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4052" y="0"/>
            <a:ext cx="1865766" cy="95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3763" y="4448188"/>
            <a:ext cx="3843229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 txBox="1"/>
          <p:nvPr/>
        </p:nvSpPr>
        <p:spPr>
          <a:xfrm>
            <a:off x="8026325" y="4993513"/>
            <a:ext cx="384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Training of Naive Bayes Model</a:t>
            </a:r>
            <a:endParaRPr b="1" sz="1200"/>
          </a:p>
        </p:txBody>
      </p:sp>
      <p:sp>
        <p:nvSpPr>
          <p:cNvPr id="136" name="Google Shape;136;p4"/>
          <p:cNvSpPr txBox="1"/>
          <p:nvPr/>
        </p:nvSpPr>
        <p:spPr>
          <a:xfrm>
            <a:off x="6738350" y="831425"/>
            <a:ext cx="35178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b="1" lang="en-US" sz="1850">
                <a:solidFill>
                  <a:schemeClr val="dk1"/>
                </a:solidFill>
              </a:rPr>
              <a:t>Prototype Developed</a:t>
            </a:r>
            <a:endParaRPr i="0" sz="1850" u="none" cap="none" strike="noStrike">
              <a:solidFill>
                <a:schemeClr val="dk1"/>
              </a:solidFill>
            </a:endParaRPr>
          </a:p>
        </p:txBody>
      </p:sp>
      <p:pic>
        <p:nvPicPr>
          <p:cNvPr id="137" name="Google Shape;137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35185" y="1306364"/>
            <a:ext cx="2380624" cy="288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"/>
          <p:cNvSpPr txBox="1"/>
          <p:nvPr>
            <p:ph type="title"/>
          </p:nvPr>
        </p:nvSpPr>
        <p:spPr>
          <a:xfrm>
            <a:off x="8331113" y="4101750"/>
            <a:ext cx="5261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Training of Ensemble Model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5850" y="1227575"/>
            <a:ext cx="4278395" cy="304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 txBox="1"/>
          <p:nvPr/>
        </p:nvSpPr>
        <p:spPr>
          <a:xfrm rot="-5400000">
            <a:off x="3255750" y="2707875"/>
            <a:ext cx="384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Web Console</a:t>
            </a:r>
            <a:endParaRPr b="1" sz="1200"/>
          </a:p>
        </p:txBody>
      </p:sp>
      <p:sp>
        <p:nvSpPr>
          <p:cNvPr id="141" name="Google Shape;141;p4"/>
          <p:cNvSpPr txBox="1"/>
          <p:nvPr/>
        </p:nvSpPr>
        <p:spPr>
          <a:xfrm>
            <a:off x="402400" y="939950"/>
            <a:ext cx="4571100" cy="20565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Endpoint Agent:</a:t>
            </a:r>
            <a:r>
              <a:rPr lang="en-US" sz="1100">
                <a:solidFill>
                  <a:schemeClr val="dk1"/>
                </a:solidFill>
              </a:rPr>
              <a:t>Go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Windows API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100"/>
              <a:t>Centralized Dashboard</a:t>
            </a:r>
            <a:r>
              <a:rPr b="1" i="0" lang="en-US" sz="1100" u="none" cap="none" strike="noStrike">
                <a:solidFill>
                  <a:srgbClr val="000000"/>
                </a:solidFill>
              </a:rPr>
              <a:t>:</a:t>
            </a:r>
            <a:endParaRPr b="1" i="0" sz="1100" u="none" cap="none" strike="noStrike">
              <a:solidFill>
                <a:srgbClr val="000000"/>
              </a:solidFill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ibre Franklin"/>
              <a:buChar char="●"/>
            </a:pPr>
            <a:r>
              <a:rPr i="1" lang="en-US" sz="1100" u="none" cap="none" strike="noStrike">
                <a:solidFill>
                  <a:srgbClr val="000000"/>
                </a:solidFill>
              </a:rPr>
              <a:t>Front-End: </a:t>
            </a:r>
            <a:r>
              <a:rPr b="1" i="0" lang="en-US" sz="1100" u="none" cap="none" strike="noStrike">
                <a:solidFill>
                  <a:srgbClr val="000000"/>
                </a:solidFill>
              </a:rPr>
              <a:t>			React.js</a:t>
            </a:r>
            <a:endParaRPr b="1" sz="1100"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ibre Franklin"/>
              <a:buChar char="●"/>
            </a:pPr>
            <a:r>
              <a:rPr i="1" lang="en-US" sz="1100" u="none" cap="none" strike="noStrike">
                <a:solidFill>
                  <a:srgbClr val="000000"/>
                </a:solidFill>
              </a:rPr>
              <a:t>Back-End:</a:t>
            </a:r>
            <a:r>
              <a:rPr b="1" i="0" lang="en-US" sz="1100" u="none" cap="none" strike="noStrike">
                <a:solidFill>
                  <a:srgbClr val="000000"/>
                </a:solidFill>
              </a:rPr>
              <a:t> 			D</a:t>
            </a:r>
            <a:r>
              <a:rPr b="1" lang="en-US" sz="1100"/>
              <a:t>jango Rest Framework</a:t>
            </a:r>
            <a:endParaRPr b="1" i="0" sz="1100" u="none" cap="none" strike="noStrike">
              <a:solidFill>
                <a:srgbClr val="000000"/>
              </a:solidFill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Monitoring:			</a:t>
            </a:r>
            <a:r>
              <a:rPr b="1" lang="en-US" sz="1100"/>
              <a:t>Grafana, Prometheus	</a:t>
            </a:r>
            <a:endParaRPr b="1"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</a:rPr>
              <a:t>Database:</a:t>
            </a:r>
            <a:r>
              <a:rPr i="0" lang="en-US" sz="1100" u="none" cap="none" strike="noStrike">
                <a:solidFill>
                  <a:srgbClr val="000000"/>
                </a:solidFill>
              </a:rPr>
              <a:t> </a:t>
            </a:r>
            <a:r>
              <a:rPr lang="en-US" sz="1100"/>
              <a:t>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Network logs database: 	</a:t>
            </a:r>
            <a:r>
              <a:rPr b="1" lang="en-US" sz="1100"/>
              <a:t>InfluxDB</a:t>
            </a: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Firewall database:		</a:t>
            </a:r>
            <a:r>
              <a:rPr b="1" lang="en-US" sz="1100"/>
              <a:t>Postgresql</a:t>
            </a: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Vector database for RAG:	</a:t>
            </a:r>
            <a:r>
              <a:rPr b="1" lang="en-US" sz="1100"/>
              <a:t>Milvus </a:t>
            </a:r>
            <a:endParaRPr b="1" sz="11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2" name="Google Shape;142;p4"/>
          <p:cNvSpPr txBox="1"/>
          <p:nvPr/>
        </p:nvSpPr>
        <p:spPr>
          <a:xfrm>
            <a:off x="847200" y="609900"/>
            <a:ext cx="3517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b="1" lang="en-US" sz="1350">
                <a:solidFill>
                  <a:schemeClr val="dk1"/>
                </a:solidFill>
              </a:rPr>
              <a:t>Technology Stack</a:t>
            </a:r>
            <a:endParaRPr i="0" sz="1350" u="none" cap="none" strike="noStrike">
              <a:solidFill>
                <a:schemeClr val="dk1"/>
              </a:solidFill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847200" y="2937738"/>
            <a:ext cx="3517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b="1" lang="en-US" sz="1350">
                <a:solidFill>
                  <a:schemeClr val="dk1"/>
                </a:solidFill>
              </a:rPr>
              <a:t>Feasibility</a:t>
            </a:r>
            <a:endParaRPr i="0" sz="1350" u="none" cap="none" strike="noStrike">
              <a:solidFill>
                <a:schemeClr val="dk1"/>
              </a:solidFill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7432025" y="5638663"/>
            <a:ext cx="35178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b="1" lang="en-US" sz="1850">
                <a:solidFill>
                  <a:schemeClr val="dk1"/>
                </a:solidFill>
              </a:rPr>
              <a:t>Video Link</a:t>
            </a:r>
            <a:endParaRPr i="0" sz="1850" u="none" cap="none" strike="noStrike">
              <a:solidFill>
                <a:schemeClr val="dk1"/>
              </a:solidFill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7962875" y="5997488"/>
            <a:ext cx="445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Youtube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2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7"/>
              </a:rPr>
              <a:t>https://youtu.be/b7d6aRaLzPo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372850" y="3283275"/>
            <a:ext cx="4630200" cy="14085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162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en-US" sz="1150">
                <a:solidFill>
                  <a:schemeClr val="dk1"/>
                </a:solidFill>
              </a:rPr>
              <a:t>Integration of </a:t>
            </a:r>
            <a:r>
              <a:rPr b="1" lang="en-US" sz="1150">
                <a:solidFill>
                  <a:schemeClr val="dk1"/>
                </a:solidFill>
              </a:rPr>
              <a:t>open-source libraries</a:t>
            </a:r>
            <a:r>
              <a:rPr lang="en-US" sz="1150">
                <a:solidFill>
                  <a:schemeClr val="dk1"/>
                </a:solidFill>
              </a:rPr>
              <a:t>.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b="1" lang="en-US" sz="1150">
                <a:solidFill>
                  <a:schemeClr val="dk1"/>
                </a:solidFill>
              </a:rPr>
              <a:t>Compatible </a:t>
            </a:r>
            <a:r>
              <a:rPr lang="en-US" sz="1150">
                <a:solidFill>
                  <a:schemeClr val="dk1"/>
                </a:solidFill>
              </a:rPr>
              <a:t>with </a:t>
            </a:r>
            <a:r>
              <a:rPr b="1" lang="en-US" sz="1150">
                <a:solidFill>
                  <a:schemeClr val="dk1"/>
                </a:solidFill>
              </a:rPr>
              <a:t>MITRE ATT&amp;CK framework</a:t>
            </a:r>
            <a:endParaRPr b="1" sz="1150">
              <a:solidFill>
                <a:schemeClr val="dk1"/>
              </a:solidFill>
            </a:endParaRPr>
          </a:p>
          <a:p>
            <a:pPr indent="-30162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en-US" sz="1150">
                <a:solidFill>
                  <a:schemeClr val="dk1"/>
                </a:solidFill>
              </a:rPr>
              <a:t>Follows </a:t>
            </a:r>
            <a:r>
              <a:rPr b="1" lang="en-US" sz="1150">
                <a:solidFill>
                  <a:schemeClr val="dk1"/>
                </a:solidFill>
              </a:rPr>
              <a:t>CERT-In Guidelines </a:t>
            </a:r>
            <a:endParaRPr b="1" sz="1150">
              <a:solidFill>
                <a:schemeClr val="dk1"/>
              </a:solidFill>
            </a:endParaRPr>
          </a:p>
          <a:p>
            <a:pPr indent="-30162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b="1" lang="en-U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Interoperability</a:t>
            </a:r>
            <a:r>
              <a:rPr lang="en-U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with </a:t>
            </a:r>
            <a:r>
              <a:rPr b="1" lang="en-U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Existing SIEMs </a:t>
            </a:r>
            <a:r>
              <a:rPr lang="en-U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the organization.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Modular </a:t>
            </a:r>
            <a:r>
              <a:rPr lang="en-U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code development with </a:t>
            </a:r>
            <a:r>
              <a:rPr lang="en-US" sz="1150">
                <a:solidFill>
                  <a:schemeClr val="dk1"/>
                </a:solidFill>
              </a:rPr>
              <a:t>Agile Methodology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Low Resource </a:t>
            </a:r>
            <a:r>
              <a:rPr lang="en-U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Footprint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Customizability </a:t>
            </a:r>
            <a:r>
              <a:rPr lang="en-U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b="1" lang="en-U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automation friendly </a:t>
            </a:r>
            <a:r>
              <a:rPr lang="en-U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the core.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Impact And Benefits</a:t>
            </a:r>
            <a:endParaRPr sz="3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609600" y="1975425"/>
            <a:ext cx="1071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495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</a:pPr>
            <a:r>
              <a:t/>
            </a:r>
            <a:endParaRPr sz="1100"/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6" name="Google Shape;156;p5"/>
          <p:cNvSpPr txBox="1"/>
          <p:nvPr>
            <p:ph idx="11" type="ftr"/>
          </p:nvPr>
        </p:nvSpPr>
        <p:spPr>
          <a:xfrm>
            <a:off x="4624050" y="6423816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>
                <a:solidFill>
                  <a:srgbClr val="FFFFFF"/>
                </a:solidFill>
              </a:rPr>
              <a:t>Night's</a:t>
            </a:r>
            <a:r>
              <a:rPr lang="en-US">
                <a:solidFill>
                  <a:srgbClr val="FFFFFF"/>
                </a:solidFill>
              </a:rPr>
              <a:t> Watch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7" name="Google Shape;15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 txBox="1"/>
          <p:nvPr/>
        </p:nvSpPr>
        <p:spPr>
          <a:xfrm>
            <a:off x="402400" y="1187401"/>
            <a:ext cx="11522400" cy="10320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Utilizing </a:t>
            </a: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network context 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</a:t>
            </a: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adaptively generate firewall rules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would enable organization to respond to </a:t>
            </a: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evolving sophisticated threats.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Incorporating </a:t>
            </a: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open-source CTI feeds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into this framework allows for </a:t>
            </a: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real-time security updates.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Utilizing an </a:t>
            </a: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ensemble model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for </a:t>
            </a: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continuous training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on </a:t>
            </a: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historical network data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significantly </a:t>
            </a: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boosts anomaly detection accuracy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facilitating </a:t>
            </a: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quicker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more </a:t>
            </a: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precise responses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</a:t>
            </a: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network anomalies.</a:t>
            </a:r>
            <a:endParaRPr b="1" sz="1100"/>
          </a:p>
        </p:txBody>
      </p:sp>
      <p:sp>
        <p:nvSpPr>
          <p:cNvPr id="159" name="Google Shape;159;p5"/>
          <p:cNvSpPr txBox="1"/>
          <p:nvPr/>
        </p:nvSpPr>
        <p:spPr>
          <a:xfrm>
            <a:off x="402400" y="2593700"/>
            <a:ext cx="11522400" cy="2055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The endpoint firewall provides </a:t>
            </a:r>
            <a:r>
              <a:rPr b="1" lang="en-US" sz="1100">
                <a:solidFill>
                  <a:schemeClr val="dk1"/>
                </a:solidFill>
              </a:rPr>
              <a:t>data sovereignty</a:t>
            </a:r>
            <a:r>
              <a:rPr lang="en-US" sz="1100">
                <a:solidFill>
                  <a:schemeClr val="dk1"/>
                </a:solidFill>
              </a:rPr>
              <a:t> as it is </a:t>
            </a:r>
            <a:r>
              <a:rPr b="1" lang="en-US" sz="1100">
                <a:solidFill>
                  <a:schemeClr val="dk1"/>
                </a:solidFill>
              </a:rPr>
              <a:t>entirely on-premises</a:t>
            </a:r>
            <a:r>
              <a:rPr lang="en-US" sz="1100">
                <a:solidFill>
                  <a:schemeClr val="dk1"/>
                </a:solidFill>
              </a:rPr>
              <a:t> and </a:t>
            </a:r>
            <a:r>
              <a:rPr b="1" lang="en-US" sz="1100">
                <a:solidFill>
                  <a:schemeClr val="dk1"/>
                </a:solidFill>
              </a:rPr>
              <a:t>not cloud-native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More cost effective </a:t>
            </a:r>
            <a:r>
              <a:rPr lang="en-US" sz="1100">
                <a:solidFill>
                  <a:schemeClr val="dk1"/>
                </a:solidFill>
              </a:rPr>
              <a:t>than other products in the market.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K7 On-premises EPS: ₹600/endpoint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CrowdStrike Falcon: ₹800/endpoint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SentinelOne Singularity Complete: ₹3,500/endpoint (Purple AI)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Features that are not in </a:t>
            </a:r>
            <a:r>
              <a:rPr b="1" lang="en-US" sz="1100">
                <a:solidFill>
                  <a:schemeClr val="dk1"/>
                </a:solidFill>
              </a:rPr>
              <a:t>K7 On-premises EPS</a:t>
            </a:r>
            <a:r>
              <a:rPr lang="en-US" sz="1100">
                <a:solidFill>
                  <a:schemeClr val="dk1"/>
                </a:solidFill>
              </a:rPr>
              <a:t> but in </a:t>
            </a:r>
            <a:r>
              <a:rPr b="1" lang="en-US" sz="1100">
                <a:solidFill>
                  <a:schemeClr val="dk1"/>
                </a:solidFill>
              </a:rPr>
              <a:t>PerimeterX</a:t>
            </a:r>
            <a:r>
              <a:rPr lang="en-U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 sz="1100">
                <a:solidFill>
                  <a:schemeClr val="dk1"/>
                </a:solidFill>
              </a:rPr>
              <a:t>Application-wise</a:t>
            </a:r>
            <a:r>
              <a:rPr lang="en-US" sz="1100">
                <a:solidFill>
                  <a:schemeClr val="dk1"/>
                </a:solidFill>
              </a:rPr>
              <a:t> traffic monitoring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 sz="1100">
                <a:solidFill>
                  <a:schemeClr val="dk1"/>
                </a:solidFill>
              </a:rPr>
              <a:t>Constant CTI</a:t>
            </a:r>
            <a:r>
              <a:rPr lang="en-US" sz="1100">
                <a:solidFill>
                  <a:schemeClr val="dk1"/>
                </a:solidFill>
              </a:rPr>
              <a:t> integration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 sz="1100">
                <a:solidFill>
                  <a:schemeClr val="dk1"/>
                </a:solidFill>
              </a:rPr>
              <a:t>LLM agent</a:t>
            </a:r>
            <a:r>
              <a:rPr lang="en-US" sz="1100">
                <a:solidFill>
                  <a:schemeClr val="dk1"/>
                </a:solidFill>
              </a:rPr>
              <a:t> based </a:t>
            </a:r>
            <a:r>
              <a:rPr b="1" lang="en-US" sz="1100">
                <a:solidFill>
                  <a:schemeClr val="dk1"/>
                </a:solidFill>
              </a:rPr>
              <a:t>policy/rule generation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Offers </a:t>
            </a:r>
            <a:r>
              <a:rPr b="1" lang="en-US" sz="1100">
                <a:solidFill>
                  <a:schemeClr val="dk1"/>
                </a:solidFill>
              </a:rPr>
              <a:t>more granular controls</a:t>
            </a:r>
            <a:r>
              <a:rPr lang="en-US" sz="1100">
                <a:solidFill>
                  <a:schemeClr val="dk1"/>
                </a:solidFill>
              </a:rPr>
              <a:t> over the system than </a:t>
            </a:r>
            <a:r>
              <a:rPr b="1" lang="en-US" sz="1100">
                <a:solidFill>
                  <a:schemeClr val="dk1"/>
                </a:solidFill>
              </a:rPr>
              <a:t>Windows Local Firewall</a:t>
            </a:r>
            <a:endParaRPr b="1" sz="1100">
              <a:solidFill>
                <a:schemeClr val="dk1"/>
              </a:solidFill>
            </a:endParaRPr>
          </a:p>
          <a:p>
            <a:pPr indent="-30162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en-US" sz="1150">
                <a:solidFill>
                  <a:schemeClr val="dk1"/>
                </a:solidFill>
              </a:rPr>
              <a:t>Firewall supports </a:t>
            </a:r>
            <a:r>
              <a:rPr b="1" lang="en-US" sz="1150">
                <a:solidFill>
                  <a:schemeClr val="dk1"/>
                </a:solidFill>
              </a:rPr>
              <a:t>effortless migration process</a:t>
            </a:r>
            <a:r>
              <a:rPr lang="en-US" sz="1150">
                <a:solidFill>
                  <a:schemeClr val="dk1"/>
                </a:solidFill>
              </a:rPr>
              <a:t> as it utilizes </a:t>
            </a:r>
            <a:r>
              <a:rPr b="1" lang="en-US" sz="1150">
                <a:solidFill>
                  <a:schemeClr val="dk1"/>
                </a:solidFill>
              </a:rPr>
              <a:t>container-based deployment</a:t>
            </a:r>
            <a:r>
              <a:rPr lang="en-US" sz="1150">
                <a:solidFill>
                  <a:schemeClr val="dk1"/>
                </a:solidFill>
              </a:rPr>
              <a:t>. 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-582300" y="7369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Impacts</a:t>
            </a:r>
            <a:endParaRPr sz="100">
              <a:solidFill>
                <a:schemeClr val="dk1"/>
              </a:solidFill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-577450" y="220952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Benefits</a:t>
            </a:r>
            <a:endParaRPr sz="100">
              <a:solidFill>
                <a:schemeClr val="dk1"/>
              </a:solidFill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243025" y="7119200"/>
            <a:ext cx="11619000" cy="4417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3495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>
                <a:solidFill>
                  <a:schemeClr val="dk1"/>
                </a:solidFill>
              </a:rPr>
              <a:t>The endpoint firewall solution can benefit: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 sz="1100">
                <a:solidFill>
                  <a:schemeClr val="dk1"/>
                </a:solidFill>
              </a:rPr>
              <a:t>National organizations, Financial Institutions, Banks, Hospitals</a:t>
            </a:r>
            <a:r>
              <a:rPr lang="en-US" sz="1100">
                <a:solidFill>
                  <a:schemeClr val="dk1"/>
                </a:solidFill>
              </a:rPr>
              <a:t> who have huge concern over data privacy.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b="1" lang="en-US" sz="1100">
                <a:solidFill>
                  <a:schemeClr val="dk1"/>
                </a:solidFill>
              </a:rPr>
              <a:t>No involvement of cloud </a:t>
            </a:r>
            <a:r>
              <a:rPr lang="en-US" sz="1100">
                <a:solidFill>
                  <a:schemeClr val="dk1"/>
                </a:solidFill>
              </a:rPr>
              <a:t>thus maintaining </a:t>
            </a:r>
            <a:r>
              <a:rPr b="1" lang="en-US" sz="1100">
                <a:solidFill>
                  <a:schemeClr val="dk1"/>
                </a:solidFill>
              </a:rPr>
              <a:t>data sovereignty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US" sz="1100">
                <a:solidFill>
                  <a:schemeClr val="dk1"/>
                </a:solidFill>
              </a:rPr>
              <a:t>Localized integration of </a:t>
            </a:r>
            <a:r>
              <a:rPr b="1" lang="en-US" sz="1100">
                <a:solidFill>
                  <a:schemeClr val="dk1"/>
                </a:solidFill>
              </a:rPr>
              <a:t>threat intel </a:t>
            </a:r>
            <a:r>
              <a:rPr lang="en-US" sz="1100">
                <a:solidFill>
                  <a:schemeClr val="dk1"/>
                </a:solidFill>
              </a:rPr>
              <a:t>from various feeds like AlienVault OTX.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US" sz="1100">
                <a:solidFill>
                  <a:schemeClr val="dk1"/>
                </a:solidFill>
              </a:rPr>
              <a:t>Transparent architecture.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 sz="1100">
                <a:solidFill>
                  <a:schemeClr val="dk1"/>
                </a:solidFill>
              </a:rPr>
              <a:t>SMBs </a:t>
            </a:r>
            <a:r>
              <a:rPr lang="en-US" sz="1100">
                <a:solidFill>
                  <a:schemeClr val="dk1"/>
                </a:solidFill>
              </a:rPr>
              <a:t>and </a:t>
            </a:r>
            <a:r>
              <a:rPr b="1" lang="en-US" sz="1100">
                <a:solidFill>
                  <a:schemeClr val="dk1"/>
                </a:solidFill>
              </a:rPr>
              <a:t>Startups</a:t>
            </a:r>
            <a:endParaRPr b="1" sz="1100">
              <a:solidFill>
                <a:schemeClr val="dk1"/>
              </a:solidFill>
            </a:endParaRPr>
          </a:p>
          <a:p>
            <a:pPr indent="-298450" lvl="2" marL="1371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US" sz="1100">
                <a:solidFill>
                  <a:schemeClr val="dk1"/>
                </a:solidFill>
              </a:rPr>
              <a:t>Reduced installation and operational</a:t>
            </a:r>
            <a:r>
              <a:rPr b="1" lang="en-US" sz="1100">
                <a:solidFill>
                  <a:schemeClr val="dk1"/>
                </a:solidFill>
              </a:rPr>
              <a:t> </a:t>
            </a:r>
            <a:r>
              <a:rPr lang="en-US" sz="1100">
                <a:solidFill>
                  <a:schemeClr val="dk1"/>
                </a:solidFill>
              </a:rPr>
              <a:t>costs.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US" sz="1100">
                <a:solidFill>
                  <a:schemeClr val="dk1"/>
                </a:solidFill>
              </a:rPr>
              <a:t>Solution </a:t>
            </a:r>
            <a:r>
              <a:rPr b="1" lang="en-US" sz="1100">
                <a:solidFill>
                  <a:schemeClr val="dk1"/>
                </a:solidFill>
              </a:rPr>
              <a:t>adapts itself </a:t>
            </a:r>
            <a:r>
              <a:rPr lang="en-US" sz="1100">
                <a:solidFill>
                  <a:schemeClr val="dk1"/>
                </a:solidFill>
              </a:rPr>
              <a:t>to the network environment with </a:t>
            </a:r>
            <a:r>
              <a:rPr b="1" lang="en-US" sz="1100">
                <a:solidFill>
                  <a:schemeClr val="dk1"/>
                </a:solidFill>
              </a:rPr>
              <a:t>minimal manual intervention.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 sz="1100">
                <a:solidFill>
                  <a:schemeClr val="dk1"/>
                </a:solidFill>
              </a:rPr>
              <a:t>Schools, Colleges </a:t>
            </a:r>
            <a:r>
              <a:rPr lang="en-US" sz="1100">
                <a:solidFill>
                  <a:schemeClr val="dk1"/>
                </a:solidFill>
              </a:rPr>
              <a:t>and</a:t>
            </a:r>
            <a:r>
              <a:rPr b="1" lang="en-US" sz="1100">
                <a:solidFill>
                  <a:schemeClr val="dk1"/>
                </a:solidFill>
              </a:rPr>
              <a:t> Universities</a:t>
            </a:r>
            <a:endParaRPr b="1" sz="1100">
              <a:solidFill>
                <a:schemeClr val="dk1"/>
              </a:solidFill>
            </a:endParaRPr>
          </a:p>
          <a:p>
            <a:pPr indent="-298450" lvl="2" marL="1371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b="1" lang="en-US" sz="1100">
                <a:solidFill>
                  <a:schemeClr val="dk1"/>
                </a:solidFill>
              </a:rPr>
              <a:t>Advanced surveillance capabilities</a:t>
            </a:r>
            <a:r>
              <a:rPr lang="en-US" sz="1100">
                <a:solidFill>
                  <a:schemeClr val="dk1"/>
                </a:solidFill>
              </a:rPr>
              <a:t> such as </a:t>
            </a:r>
            <a:r>
              <a:rPr b="1" lang="en-US" sz="1100">
                <a:solidFill>
                  <a:schemeClr val="dk1"/>
                </a:solidFill>
              </a:rPr>
              <a:t>browsing history analysis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b="1" lang="en-US" sz="1100">
                <a:solidFill>
                  <a:schemeClr val="dk1"/>
                </a:solidFill>
              </a:rPr>
              <a:t>Enforcing censorship</a:t>
            </a:r>
            <a:r>
              <a:rPr lang="en-US" sz="1100">
                <a:solidFill>
                  <a:schemeClr val="dk1"/>
                </a:solidFill>
              </a:rPr>
              <a:t> such as </a:t>
            </a:r>
            <a:r>
              <a:rPr b="1" lang="en-US" sz="1100">
                <a:solidFill>
                  <a:schemeClr val="dk1"/>
                </a:solidFill>
              </a:rPr>
              <a:t>maintaining blocklist of websites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 sz="1100">
                <a:solidFill>
                  <a:schemeClr val="dk1"/>
                </a:solidFill>
              </a:rPr>
              <a:t>Manufacturing companies </a:t>
            </a:r>
            <a:r>
              <a:rPr lang="en-US" sz="1100">
                <a:solidFill>
                  <a:schemeClr val="dk1"/>
                </a:solidFill>
              </a:rPr>
              <a:t>with</a:t>
            </a:r>
            <a:r>
              <a:rPr b="1" lang="en-US" sz="1100">
                <a:solidFill>
                  <a:schemeClr val="dk1"/>
                </a:solidFill>
              </a:rPr>
              <a:t> SCADA/ICS/OT </a:t>
            </a:r>
            <a:r>
              <a:rPr lang="en-US" sz="1100">
                <a:solidFill>
                  <a:schemeClr val="dk1"/>
                </a:solidFill>
              </a:rPr>
              <a:t>products (Unix)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US" sz="1100">
                <a:solidFill>
                  <a:schemeClr val="dk1"/>
                </a:solidFill>
              </a:rPr>
              <a:t>Monitoring and regulation of industrial traffic with the help of </a:t>
            </a:r>
            <a:r>
              <a:rPr b="1" lang="en-US" sz="1100">
                <a:solidFill>
                  <a:schemeClr val="dk1"/>
                </a:solidFill>
              </a:rPr>
              <a:t>CTI.</a:t>
            </a:r>
            <a:endParaRPr b="1" sz="1100">
              <a:solidFill>
                <a:schemeClr val="dk1"/>
              </a:solidFill>
            </a:endParaRPr>
          </a:p>
          <a:p>
            <a:pPr indent="-298450" lvl="2" marL="1371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b="1" lang="en-US" sz="1100">
                <a:solidFill>
                  <a:schemeClr val="dk1"/>
                </a:solidFill>
              </a:rPr>
              <a:t>Protocol specific</a:t>
            </a:r>
            <a:r>
              <a:rPr lang="en-US" sz="1100">
                <a:solidFill>
                  <a:schemeClr val="dk1"/>
                </a:solidFill>
              </a:rPr>
              <a:t> CTI Integration (Eg. ModBus CVE-2024-7567) for </a:t>
            </a:r>
            <a:r>
              <a:rPr b="1" lang="en-US" sz="1100">
                <a:solidFill>
                  <a:schemeClr val="dk1"/>
                </a:solidFill>
              </a:rPr>
              <a:t>SCADA/ICS/OT </a:t>
            </a:r>
            <a:r>
              <a:rPr lang="en-US" sz="1100">
                <a:solidFill>
                  <a:schemeClr val="dk1"/>
                </a:solidFill>
              </a:rPr>
              <a:t>products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 sz="1100">
                <a:solidFill>
                  <a:schemeClr val="dk1"/>
                </a:solidFill>
              </a:rPr>
              <a:t>SOC </a:t>
            </a:r>
            <a:r>
              <a:rPr lang="en-US" sz="1100">
                <a:solidFill>
                  <a:schemeClr val="dk1"/>
                </a:solidFill>
              </a:rPr>
              <a:t>Teams: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b="1" lang="en-US" sz="1100">
                <a:solidFill>
                  <a:schemeClr val="dk1"/>
                </a:solidFill>
              </a:rPr>
              <a:t>Network traffic heatmap </a:t>
            </a:r>
            <a:r>
              <a:rPr lang="en-US" sz="1100">
                <a:solidFill>
                  <a:schemeClr val="dk1"/>
                </a:solidFill>
              </a:rPr>
              <a:t>for the organization in 2D.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US" sz="1100">
                <a:solidFill>
                  <a:schemeClr val="dk1"/>
                </a:solidFill>
              </a:rPr>
              <a:t>Windows </a:t>
            </a:r>
            <a:r>
              <a:rPr b="1" lang="en-US" sz="1100">
                <a:solidFill>
                  <a:schemeClr val="dk1"/>
                </a:solidFill>
              </a:rPr>
              <a:t>event log deep tracing</a:t>
            </a:r>
            <a:r>
              <a:rPr lang="en-US" sz="1100">
                <a:solidFill>
                  <a:schemeClr val="dk1"/>
                </a:solidFill>
              </a:rPr>
              <a:t> abilities. 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US" sz="1100">
                <a:solidFill>
                  <a:schemeClr val="dk1"/>
                </a:solidFill>
              </a:rPr>
              <a:t>Automated </a:t>
            </a:r>
            <a:r>
              <a:rPr b="1" lang="en-US" sz="1100">
                <a:solidFill>
                  <a:schemeClr val="dk1"/>
                </a:solidFill>
              </a:rPr>
              <a:t>logging and report generation</a:t>
            </a:r>
            <a:r>
              <a:rPr lang="en-US" sz="1100">
                <a:solidFill>
                  <a:schemeClr val="dk1"/>
                </a:solidFill>
              </a:rPr>
              <a:t> features help </a:t>
            </a:r>
            <a:r>
              <a:rPr b="1" lang="en-US" sz="1100">
                <a:solidFill>
                  <a:schemeClr val="dk1"/>
                </a:solidFill>
              </a:rPr>
              <a:t>maintain deep records</a:t>
            </a:r>
            <a:r>
              <a:rPr lang="en-US" sz="1100">
                <a:solidFill>
                  <a:schemeClr val="dk1"/>
                </a:solidFill>
              </a:rPr>
              <a:t> of all network activity.</a:t>
            </a:r>
            <a:endParaRPr sz="1100">
              <a:solidFill>
                <a:schemeClr val="dk1"/>
              </a:solidFill>
            </a:endParaRPr>
          </a:p>
          <a:p>
            <a:pPr indent="-23495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>
                <a:solidFill>
                  <a:schemeClr val="dk1"/>
                </a:solidFill>
              </a:rPr>
              <a:t>Infected systems can be attended by: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 sz="1100">
                <a:solidFill>
                  <a:schemeClr val="dk1"/>
                </a:solidFill>
              </a:rPr>
              <a:t>Immediate alerts with severity score</a:t>
            </a:r>
            <a:r>
              <a:rPr lang="en-US" sz="1100">
                <a:solidFill>
                  <a:schemeClr val="dk1"/>
                </a:solidFill>
              </a:rPr>
              <a:t> to the web console on malicious behaviour of the endpoints.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 sz="1100">
                <a:solidFill>
                  <a:schemeClr val="dk1"/>
                </a:solidFill>
              </a:rPr>
              <a:t>Quarantine/Self-heal features</a:t>
            </a:r>
            <a:r>
              <a:rPr lang="en-US" sz="1100">
                <a:solidFill>
                  <a:schemeClr val="dk1"/>
                </a:solidFill>
              </a:rPr>
              <a:t> to immediately isolate node from other parts of the network from</a:t>
            </a:r>
            <a:r>
              <a:rPr b="1" lang="en-US" sz="1100">
                <a:solidFill>
                  <a:schemeClr val="dk1"/>
                </a:solidFill>
              </a:rPr>
              <a:t> self replicable malware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3495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b="1" lang="en-US" sz="1100">
                <a:solidFill>
                  <a:schemeClr val="dk1"/>
                </a:solidFill>
              </a:rPr>
              <a:t>Reduced manual policy updates </a:t>
            </a:r>
            <a:r>
              <a:rPr lang="en-US" sz="1100">
                <a:solidFill>
                  <a:schemeClr val="dk1"/>
                </a:solidFill>
              </a:rPr>
              <a:t>as the firewall leverages</a:t>
            </a:r>
            <a:r>
              <a:rPr b="1" lang="en-US" sz="1100">
                <a:solidFill>
                  <a:schemeClr val="dk1"/>
                </a:solidFill>
              </a:rPr>
              <a:t> self-learning policies, automatically adjusting rules </a:t>
            </a:r>
            <a:r>
              <a:rPr lang="en-US" sz="1100">
                <a:solidFill>
                  <a:schemeClr val="dk1"/>
                </a:solidFill>
              </a:rPr>
              <a:t>based on real-time traffic analysis and evolving threat data.</a:t>
            </a:r>
            <a:endParaRPr sz="1100">
              <a:solidFill>
                <a:schemeClr val="dk1"/>
              </a:solidFill>
            </a:endParaRPr>
          </a:p>
          <a:p>
            <a:pPr indent="-23495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>
                <a:solidFill>
                  <a:schemeClr val="dk1"/>
                </a:solidFill>
              </a:rPr>
              <a:t>The firewall leverages the </a:t>
            </a:r>
            <a:r>
              <a:rPr b="1" lang="en-US" sz="1100">
                <a:solidFill>
                  <a:schemeClr val="dk1"/>
                </a:solidFill>
              </a:rPr>
              <a:t>MITRE ATT&amp;CK framework</a:t>
            </a:r>
            <a:r>
              <a:rPr lang="en-US" sz="1100">
                <a:solidFill>
                  <a:schemeClr val="dk1"/>
                </a:solidFill>
              </a:rPr>
              <a:t> to map detected threats </a:t>
            </a:r>
            <a:r>
              <a:rPr b="1" lang="en-US" sz="1100">
                <a:solidFill>
                  <a:schemeClr val="dk1"/>
                </a:solidFill>
              </a:rPr>
              <a:t>against known adversary TTPs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/>
          </a:p>
        </p:txBody>
      </p:sp>
      <p:graphicFrame>
        <p:nvGraphicFramePr>
          <p:cNvPr id="163" name="Google Shape;163;p5"/>
          <p:cNvGraphicFramePr/>
          <p:nvPr/>
        </p:nvGraphicFramePr>
        <p:xfrm>
          <a:off x="402400" y="470780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{CC86D91F-FA69-41A3-A196-3E8F176B5D38}</a:tableStyleId>
              </a:tblPr>
              <a:tblGrid>
                <a:gridCol w="5761200"/>
                <a:gridCol w="5761200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K7 On-premises EPS</a:t>
                      </a:r>
                      <a:endParaRPr b="1" i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PerimeterX Endpoint firewall</a:t>
                      </a:r>
                      <a:endParaRPr b="1" i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1416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Lack of dynamic CTI Integration 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Dynamic 24/7 CTI Integration 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15112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Lack of Application-wise traffic monitoring on each endpoint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Extensive Traffic monitoring on each endpoint with features like: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9845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Times New Roman"/>
                        <a:buChar char="-"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Application-wise traffic monitoring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9845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Times New Roman"/>
                        <a:buChar char="-"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Country-wise traffic flow details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9845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Times New Roman"/>
                        <a:buChar char="-"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Hosts (Domains/IPs) that are communicating with the endpoint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15112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Lack of extensive gen-AI features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of LLMs in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9845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Times New Roman"/>
                        <a:buChar char="-"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Dynamic rule generation based on context provided by the user/network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9845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Times New Roman"/>
                        <a:buChar char="-"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Retrieval of logs based on user’s context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Research  And References</a:t>
            </a:r>
            <a:endParaRPr sz="3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651150" y="1340275"/>
            <a:ext cx="111981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94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/>
              <a:t>Papers referenced:</a:t>
            </a:r>
            <a:endParaRPr sz="1800"/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Employing LLMs for Incident Response Planning and Review, </a:t>
            </a:r>
            <a:r>
              <a:rPr b="1" lang="en-US" sz="1800">
                <a:solidFill>
                  <a:schemeClr val="dk1"/>
                </a:solidFill>
              </a:rPr>
              <a:t>Sam Hays, Jules White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Large Language Models for Networking: Workflow, Advances and Challenges</a:t>
            </a:r>
            <a:r>
              <a:rPr b="1" lang="en-US" sz="1800">
                <a:solidFill>
                  <a:schemeClr val="dk1"/>
                </a:solidFill>
              </a:rPr>
              <a:t> Chang Liu, Xiaohui Xie, Xinggong Zhang Senior Member, IEEE, Yong Cui, Member, IEEE</a:t>
            </a:r>
            <a:r>
              <a:rPr lang="en-US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-2794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Blogs:</a:t>
            </a:r>
            <a:endParaRPr sz="1800"/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 u="sng">
                <a:solidFill>
                  <a:schemeClr val="hlink"/>
                </a:solidFill>
                <a:hlinkClick r:id="rId3"/>
              </a:rPr>
              <a:t>https://lilianweng.github.io/posts/2023-06-23-agent/</a:t>
            </a:r>
            <a:endParaRPr sz="1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72" name="Google Shape;172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3" name="Google Shape;173;p6"/>
          <p:cNvSpPr txBox="1"/>
          <p:nvPr>
            <p:ph idx="11" type="ftr"/>
          </p:nvPr>
        </p:nvSpPr>
        <p:spPr>
          <a:xfrm>
            <a:off x="4648200" y="6423816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>
                <a:solidFill>
                  <a:srgbClr val="FFFFFF"/>
                </a:solidFill>
              </a:rPr>
              <a:t>Night’s Watch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4" name="Google Shape;17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