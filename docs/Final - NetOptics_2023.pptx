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Libre Franklin"/>
      <p:regular r:id="rId10"/>
      <p:bold r:id="rId11"/>
      <p:italic r:id="rId12"/>
      <p:boldItalic r:id="rId13"/>
    </p:embeddedFont>
    <p:embeddedFont>
      <p:font typeface="Franklin Gothic"/>
      <p:bold r:id="rId14"/>
    </p:embeddedFont>
    <p:embeddedFont>
      <p:font typeface="Montserrat"/>
      <p:regular r:id="rId15"/>
      <p:bold r:id="rId16"/>
      <p:italic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C8nMgzylq2ywy21b5mr/etax4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22" Type="http://schemas.openxmlformats.org/officeDocument/2006/relationships/font" Target="fonts/MontserratMedium-boldItalic.fntdata"/><Relationship Id="rId21" Type="http://schemas.openxmlformats.org/officeDocument/2006/relationships/font" Target="fonts/MontserratMedium-italic.fntdata"/><Relationship Id="rId24" Type="http://schemas.openxmlformats.org/officeDocument/2006/relationships/font" Target="fonts/MontserratExtraBold-boldItalic.fntdata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LibreFranklin-bold.fntdata"/><Relationship Id="rId10" Type="http://schemas.openxmlformats.org/officeDocument/2006/relationships/font" Target="fonts/LibreFranklin-regular.fntdata"/><Relationship Id="rId13" Type="http://schemas.openxmlformats.org/officeDocument/2006/relationships/font" Target="fonts/LibreFranklin-boldItalic.fntdata"/><Relationship Id="rId12" Type="http://schemas.openxmlformats.org/officeDocument/2006/relationships/font" Target="fonts/LibreFranklin-italic.fntdata"/><Relationship Id="rId15" Type="http://schemas.openxmlformats.org/officeDocument/2006/relationships/font" Target="fonts/Montserrat-regular.fntdata"/><Relationship Id="rId14" Type="http://schemas.openxmlformats.org/officeDocument/2006/relationships/font" Target="fonts/FranklinGothic-bold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MontserratMedium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954ba24bf0_7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954ba24bf0_7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954ba24bf0_7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6367054" y="2116182"/>
            <a:ext cx="5491500" cy="15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/>
          <p:nvPr>
            <p:ph idx="1" type="body"/>
          </p:nvPr>
        </p:nvSpPr>
        <p:spPr>
          <a:xfrm>
            <a:off x="6367055" y="4549553"/>
            <a:ext cx="54915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flipH="1" rot="5400000">
            <a:off x="1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/>
          <p:nvPr>
            <p:ph idx="2" type="pic"/>
          </p:nvPr>
        </p:nvSpPr>
        <p:spPr>
          <a:xfrm>
            <a:off x="6096000" y="-22543"/>
            <a:ext cx="6096000" cy="69030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952499" y="2289363"/>
            <a:ext cx="4572000" cy="27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">
  <p:cSld name="Summary 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952500" y="2656904"/>
            <a:ext cx="4838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952500" y="2286000"/>
            <a:ext cx="4838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953655" y="3841846"/>
            <a:ext cx="48387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953655" y="3470942"/>
            <a:ext cx="4838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5" type="body"/>
          </p:nvPr>
        </p:nvSpPr>
        <p:spPr>
          <a:xfrm>
            <a:off x="952500" y="5017901"/>
            <a:ext cx="4838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6" type="body"/>
          </p:nvPr>
        </p:nvSpPr>
        <p:spPr>
          <a:xfrm>
            <a:off x="952500" y="4646997"/>
            <a:ext cx="4838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7" type="body"/>
          </p:nvPr>
        </p:nvSpPr>
        <p:spPr>
          <a:xfrm>
            <a:off x="6399647" y="2656904"/>
            <a:ext cx="48387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8" type="body"/>
          </p:nvPr>
        </p:nvSpPr>
        <p:spPr>
          <a:xfrm>
            <a:off x="6399647" y="2286000"/>
            <a:ext cx="4838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9" type="body"/>
          </p:nvPr>
        </p:nvSpPr>
        <p:spPr>
          <a:xfrm>
            <a:off x="6399647" y="3841846"/>
            <a:ext cx="48387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3" type="body"/>
          </p:nvPr>
        </p:nvSpPr>
        <p:spPr>
          <a:xfrm>
            <a:off x="6399647" y="3470942"/>
            <a:ext cx="4838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21" y="0"/>
            <a:ext cx="5829324" cy="3235617"/>
            <a:chOff x="5612972" y="1"/>
            <a:chExt cx="6615962" cy="3672247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9" cy="3672247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5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1" cy="2943959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952500" y="2818296"/>
            <a:ext cx="21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2" type="body"/>
          </p:nvPr>
        </p:nvSpPr>
        <p:spPr>
          <a:xfrm>
            <a:off x="952500" y="2209800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10"/>
          <p:cNvSpPr txBox="1"/>
          <p:nvPr>
            <p:ph idx="3" type="body"/>
          </p:nvPr>
        </p:nvSpPr>
        <p:spPr>
          <a:xfrm>
            <a:off x="3663042" y="2818296"/>
            <a:ext cx="212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4" type="body"/>
          </p:nvPr>
        </p:nvSpPr>
        <p:spPr>
          <a:xfrm>
            <a:off x="3663042" y="2209800"/>
            <a:ext cx="212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10"/>
          <p:cNvSpPr txBox="1"/>
          <p:nvPr>
            <p:ph idx="5" type="body"/>
          </p:nvPr>
        </p:nvSpPr>
        <p:spPr>
          <a:xfrm>
            <a:off x="952500" y="5131299"/>
            <a:ext cx="21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6" type="body"/>
          </p:nvPr>
        </p:nvSpPr>
        <p:spPr>
          <a:xfrm>
            <a:off x="952500" y="4522803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10"/>
          <p:cNvSpPr txBox="1"/>
          <p:nvPr>
            <p:ph idx="7" type="body"/>
          </p:nvPr>
        </p:nvSpPr>
        <p:spPr>
          <a:xfrm>
            <a:off x="3663042" y="5131299"/>
            <a:ext cx="212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8" type="body"/>
          </p:nvPr>
        </p:nvSpPr>
        <p:spPr>
          <a:xfrm>
            <a:off x="3663042" y="4522803"/>
            <a:ext cx="212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" name="Google Shape;76;p10"/>
          <p:cNvSpPr txBox="1"/>
          <p:nvPr>
            <p:ph idx="9" type="body"/>
          </p:nvPr>
        </p:nvSpPr>
        <p:spPr>
          <a:xfrm>
            <a:off x="6367054" y="5131299"/>
            <a:ext cx="212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3" type="body"/>
          </p:nvPr>
        </p:nvSpPr>
        <p:spPr>
          <a:xfrm>
            <a:off x="6367054" y="4522803"/>
            <a:ext cx="2129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">
  <p:cSld name="Break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/>
          <p:nvPr>
            <p:ph type="title"/>
          </p:nvPr>
        </p:nvSpPr>
        <p:spPr>
          <a:xfrm>
            <a:off x="7193943" y="3045437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b="1" i="0" sz="41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>
            <p:ph idx="2" type="chart"/>
          </p:nvPr>
        </p:nvSpPr>
        <p:spPr>
          <a:xfrm>
            <a:off x="952500" y="1939108"/>
            <a:ext cx="10352700" cy="41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title"/>
          </p:nvPr>
        </p:nvSpPr>
        <p:spPr>
          <a:xfrm>
            <a:off x="964022" y="2476500"/>
            <a:ext cx="7132200" cy="3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b="0" i="0" sz="2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4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en-US" sz="20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21" y="0"/>
            <a:ext cx="5829324" cy="3235617"/>
            <a:chOff x="5612972" y="1"/>
            <a:chExt cx="6615962" cy="3672247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9" cy="3672247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5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1" cy="2943959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flipH="1" rot="5400000">
            <a:off x="1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flipH="1" rot="5400000">
            <a:off x="1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/>
          <p:nvPr>
            <p:ph idx="2" type="pic"/>
          </p:nvPr>
        </p:nvSpPr>
        <p:spPr>
          <a:xfrm>
            <a:off x="954268" y="2572883"/>
            <a:ext cx="2118300" cy="20373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964022" y="879063"/>
            <a:ext cx="75324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cap="flat" cmpd="sng" w="1016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15"/>
          <p:cNvSpPr/>
          <p:nvPr>
            <p:ph idx="3" type="pic"/>
          </p:nvPr>
        </p:nvSpPr>
        <p:spPr>
          <a:xfrm>
            <a:off x="3658280" y="2572883"/>
            <a:ext cx="2118300" cy="20373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952500" y="5393169"/>
            <a:ext cx="21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4" type="body"/>
          </p:nvPr>
        </p:nvSpPr>
        <p:spPr>
          <a:xfrm>
            <a:off x="952500" y="4986745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5" type="body"/>
          </p:nvPr>
        </p:nvSpPr>
        <p:spPr>
          <a:xfrm>
            <a:off x="3663042" y="5393169"/>
            <a:ext cx="212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6" type="body"/>
          </p:nvPr>
        </p:nvSpPr>
        <p:spPr>
          <a:xfrm>
            <a:off x="3663042" y="4986745"/>
            <a:ext cx="212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7" type="body"/>
          </p:nvPr>
        </p:nvSpPr>
        <p:spPr>
          <a:xfrm>
            <a:off x="6367054" y="5393169"/>
            <a:ext cx="212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8" type="body"/>
          </p:nvPr>
        </p:nvSpPr>
        <p:spPr>
          <a:xfrm>
            <a:off x="6367054" y="4986745"/>
            <a:ext cx="2129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5"/>
          <p:cNvSpPr txBox="1"/>
          <p:nvPr>
            <p:ph idx="9" type="body"/>
          </p:nvPr>
        </p:nvSpPr>
        <p:spPr>
          <a:xfrm>
            <a:off x="9110254" y="5393169"/>
            <a:ext cx="212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idx="13" type="body"/>
          </p:nvPr>
        </p:nvSpPr>
        <p:spPr>
          <a:xfrm>
            <a:off x="9110254" y="4986745"/>
            <a:ext cx="2129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0" name="Google Shape;130;p15"/>
          <p:cNvGrpSpPr/>
          <p:nvPr/>
        </p:nvGrpSpPr>
        <p:grpSpPr>
          <a:xfrm>
            <a:off x="6362721" y="0"/>
            <a:ext cx="5829324" cy="3235617"/>
            <a:chOff x="5612972" y="1"/>
            <a:chExt cx="6615962" cy="3672247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9" cy="3672247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5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1" cy="2943959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/>
          <p:nvPr>
            <p:ph idx="14" type="pic"/>
          </p:nvPr>
        </p:nvSpPr>
        <p:spPr>
          <a:xfrm>
            <a:off x="6362292" y="2572883"/>
            <a:ext cx="2118300" cy="203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/>
          <p:nvPr>
            <p:ph idx="15" type="pic"/>
          </p:nvPr>
        </p:nvSpPr>
        <p:spPr>
          <a:xfrm>
            <a:off x="9112023" y="2572883"/>
            <a:ext cx="2118300" cy="203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5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">
  <p:cSld name="Timeline 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95" y="2213783"/>
            <a:ext cx="2100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5" y="2213783"/>
            <a:ext cx="11100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59" y="3904712"/>
            <a:ext cx="2100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125" y="3895941"/>
            <a:ext cx="2100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16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296955" y="2934856"/>
            <a:ext cx="21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6"/>
          <p:cNvSpPr txBox="1"/>
          <p:nvPr>
            <p:ph idx="2" type="body"/>
          </p:nvPr>
        </p:nvSpPr>
        <p:spPr>
          <a:xfrm>
            <a:off x="1296955" y="2568686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6"/>
          <p:cNvSpPr txBox="1"/>
          <p:nvPr>
            <p:ph idx="3" type="body"/>
          </p:nvPr>
        </p:nvSpPr>
        <p:spPr>
          <a:xfrm>
            <a:off x="3897799" y="5087328"/>
            <a:ext cx="21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4" type="body"/>
          </p:nvPr>
        </p:nvSpPr>
        <p:spPr>
          <a:xfrm>
            <a:off x="3897799" y="4701908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5" type="body"/>
          </p:nvPr>
        </p:nvSpPr>
        <p:spPr>
          <a:xfrm>
            <a:off x="9001711" y="5087328"/>
            <a:ext cx="21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6"/>
          <p:cNvSpPr txBox="1"/>
          <p:nvPr>
            <p:ph idx="6" type="body"/>
          </p:nvPr>
        </p:nvSpPr>
        <p:spPr>
          <a:xfrm>
            <a:off x="9001711" y="4701908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6"/>
          <p:cNvSpPr txBox="1"/>
          <p:nvPr>
            <p:ph idx="7" type="body"/>
          </p:nvPr>
        </p:nvSpPr>
        <p:spPr>
          <a:xfrm>
            <a:off x="6438143" y="2934856"/>
            <a:ext cx="213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6"/>
          <p:cNvSpPr txBox="1"/>
          <p:nvPr>
            <p:ph idx="8" type="body"/>
          </p:nvPr>
        </p:nvSpPr>
        <p:spPr>
          <a:xfrm>
            <a:off x="6438143" y="2568686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600" cy="0"/>
          </a:xfrm>
          <a:prstGeom prst="straightConnector1">
            <a:avLst/>
          </a:prstGeom>
          <a:noFill/>
          <a:ln cap="flat" cmpd="sng" w="1651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00" cy="1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00" cy="1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00" cy="1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00" cy="16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6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">
  <p:cSld name="2 Col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flipH="1" rot="5400000">
            <a:off x="1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17"/>
          <p:cNvSpPr txBox="1"/>
          <p:nvPr>
            <p:ph idx="1" type="body"/>
          </p:nvPr>
        </p:nvSpPr>
        <p:spPr>
          <a:xfrm>
            <a:off x="964023" y="2300984"/>
            <a:ext cx="48273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1" name="Google Shape;171;p17"/>
          <p:cNvSpPr txBox="1"/>
          <p:nvPr>
            <p:ph idx="2" type="body"/>
          </p:nvPr>
        </p:nvSpPr>
        <p:spPr>
          <a:xfrm>
            <a:off x="6362700" y="2300984"/>
            <a:ext cx="47649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7"/>
          <p:cNvSpPr txBox="1"/>
          <p:nvPr>
            <p:ph idx="3" type="body"/>
          </p:nvPr>
        </p:nvSpPr>
        <p:spPr>
          <a:xfrm>
            <a:off x="964023" y="2799146"/>
            <a:ext cx="4827300" cy="19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7"/>
          <p:cNvSpPr txBox="1"/>
          <p:nvPr>
            <p:ph idx="4" type="body"/>
          </p:nvPr>
        </p:nvSpPr>
        <p:spPr>
          <a:xfrm>
            <a:off x="6362700" y="2799146"/>
            <a:ext cx="4756200" cy="19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17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7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">
  <p:cSld name="3 col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flipH="1" rot="5400000">
            <a:off x="1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/>
          <p:nvPr>
            <p:ph type="title"/>
          </p:nvPr>
        </p:nvSpPr>
        <p:spPr>
          <a:xfrm>
            <a:off x="964023" y="879063"/>
            <a:ext cx="49416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18"/>
          <p:cNvSpPr txBox="1"/>
          <p:nvPr>
            <p:ph idx="1" type="body"/>
          </p:nvPr>
        </p:nvSpPr>
        <p:spPr>
          <a:xfrm>
            <a:off x="952500" y="2300156"/>
            <a:ext cx="3036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p18"/>
          <p:cNvSpPr txBox="1"/>
          <p:nvPr>
            <p:ph idx="2" type="body"/>
          </p:nvPr>
        </p:nvSpPr>
        <p:spPr>
          <a:xfrm>
            <a:off x="952500" y="2799146"/>
            <a:ext cx="3036600" cy="19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3" type="body"/>
          </p:nvPr>
        </p:nvSpPr>
        <p:spPr>
          <a:xfrm>
            <a:off x="4569372" y="2300156"/>
            <a:ext cx="3036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p18"/>
          <p:cNvSpPr txBox="1"/>
          <p:nvPr>
            <p:ph idx="4" type="body"/>
          </p:nvPr>
        </p:nvSpPr>
        <p:spPr>
          <a:xfrm>
            <a:off x="4569372" y="2799146"/>
            <a:ext cx="3050700" cy="19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18"/>
          <p:cNvSpPr txBox="1"/>
          <p:nvPr>
            <p:ph idx="5" type="body"/>
          </p:nvPr>
        </p:nvSpPr>
        <p:spPr>
          <a:xfrm>
            <a:off x="8187017" y="2300156"/>
            <a:ext cx="3036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0" name="Google Shape;190;p18"/>
          <p:cNvSpPr txBox="1"/>
          <p:nvPr>
            <p:ph idx="6" type="body"/>
          </p:nvPr>
        </p:nvSpPr>
        <p:spPr>
          <a:xfrm>
            <a:off x="8187017" y="2799146"/>
            <a:ext cx="3036600" cy="19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18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8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6896100" y="5102063"/>
            <a:ext cx="49149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 sz="16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19"/>
          <p:cNvSpPr txBox="1"/>
          <p:nvPr>
            <p:ph idx="2" type="subTitle"/>
          </p:nvPr>
        </p:nvSpPr>
        <p:spPr>
          <a:xfrm>
            <a:off x="6907623" y="3591098"/>
            <a:ext cx="49035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6907623" y="2173658"/>
            <a:ext cx="49035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0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19"/>
          <p:cNvSpPr/>
          <p:nvPr>
            <p:ph idx="3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" type="body"/>
          </p:nvPr>
        </p:nvSpPr>
        <p:spPr>
          <a:xfrm>
            <a:off x="971550" y="1825625"/>
            <a:ext cx="10382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type="title"/>
          </p:nvPr>
        </p:nvSpPr>
        <p:spPr>
          <a:xfrm>
            <a:off x="952500" y="365125"/>
            <a:ext cx="10401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2992120" y="6332220"/>
            <a:ext cx="1313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1494790" y="6332220"/>
            <a:ext cx="1497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/>
          <p:nvPr>
            <p:ph type="ctrTitle"/>
          </p:nvPr>
        </p:nvSpPr>
        <p:spPr>
          <a:xfrm>
            <a:off x="5250254" y="148172"/>
            <a:ext cx="64617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b="1" lang="en-US" sz="3600"/>
              <a:t>Basic Details of the Team </a:t>
            </a:r>
            <a:r>
              <a:rPr b="1" lang="en-US" sz="3600"/>
              <a:t>and</a:t>
            </a:r>
            <a:r>
              <a:rPr b="1" lang="en-US" sz="3600"/>
              <a:t> Problem Statement</a:t>
            </a:r>
            <a:endParaRPr/>
          </a:p>
        </p:txBody>
      </p:sp>
      <p:pic>
        <p:nvPicPr>
          <p:cNvPr id="211" name="Google Shape;2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475" y="252206"/>
            <a:ext cx="3330245" cy="167086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"/>
          <p:cNvSpPr txBox="1"/>
          <p:nvPr/>
        </p:nvSpPr>
        <p:spPr>
          <a:xfrm>
            <a:off x="5065638" y="1399700"/>
            <a:ext cx="6831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Ministry/Organization Name/Student Innovation:</a:t>
            </a:r>
            <a:r>
              <a:rPr b="1" i="0" lang="en-US" sz="14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i="0" sz="1400" u="none" cap="none" strike="noStrik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Indian Space Research Organisation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PS Code</a:t>
            </a:r>
            <a:r>
              <a:rPr b="1" i="0" lang="en-US" sz="1400" u="none" cap="none" strike="noStrike">
                <a:solidFill>
                  <a:schemeClr val="accent3"/>
                </a:solidFill>
              </a:rPr>
              <a:t>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		</a:t>
            </a: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SIH1</a:t>
            </a:r>
            <a:r>
              <a:rPr b="1"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524 </a:t>
            </a:r>
            <a:r>
              <a:rPr b="1" i="0" lang="en-US" sz="1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[Software]</a:t>
            </a:r>
            <a:endParaRPr b="1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Title: </a:t>
            </a:r>
            <a:endParaRPr b="1" i="0" sz="1400" u="none" cap="none" strike="noStrik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Domain Name Server (DNS) Filtering Service using Threat Intelligence feeds and AI/ML Techniques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495A2"/>
                </a:solidFill>
                <a:latin typeface="Montserrat"/>
                <a:ea typeface="Montserrat"/>
                <a:cs typeface="Montserrat"/>
                <a:sym typeface="Montserrat"/>
              </a:rPr>
              <a:t>Team Name: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		</a:t>
            </a: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NetOptiq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495A2"/>
                </a:solidFill>
                <a:latin typeface="Montserrat"/>
                <a:ea typeface="Montserrat"/>
                <a:cs typeface="Montserrat"/>
                <a:sym typeface="Montserrat"/>
              </a:rPr>
              <a:t>Team Leader Name: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b="1" i="0" lang="en-U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Issac G</a:t>
            </a: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ladin</a:t>
            </a:r>
            <a:r>
              <a:rPr b="1" i="0" lang="en-U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S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</a:rPr>
              <a:t>I</a:t>
            </a:r>
            <a:r>
              <a:rPr b="1" i="0" lang="en-US" sz="14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nstitute Code (AISHE):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b="1" i="0" lang="en-U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U-0460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495A2"/>
                </a:solidFill>
                <a:latin typeface="Montserrat"/>
                <a:ea typeface="Montserrat"/>
                <a:cs typeface="Montserrat"/>
                <a:sym typeface="Montserrat"/>
              </a:rPr>
              <a:t>Institute Name:</a:t>
            </a:r>
            <a:r>
              <a:rPr b="1" i="0" lang="en-US" sz="1400" u="none" cap="none" strike="noStrike">
                <a:solidFill>
                  <a:srgbClr val="4495A2"/>
                </a:solidFill>
              </a:rPr>
              <a:t>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Karunya Institute of Technology and Sciences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4495A2"/>
                </a:solidFill>
                <a:latin typeface="Montserrat"/>
                <a:ea typeface="Montserrat"/>
                <a:cs typeface="Montserrat"/>
                <a:sym typeface="Montserrat"/>
              </a:rPr>
              <a:t>Theme Name:</a:t>
            </a:r>
            <a:r>
              <a:rPr b="1" i="0" lang="en-US" sz="1400" u="none" cap="none" strike="noStrike">
                <a:solidFill>
                  <a:srgbClr val="4495A2"/>
                </a:solidFill>
              </a:rPr>
              <a:t> </a:t>
            </a:r>
            <a:r>
              <a:rPr b="0" i="0" lang="en-US" sz="1400" u="none" cap="none" strike="noStrike">
                <a:solidFill>
                  <a:srgbClr val="4495A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Space Technology </a:t>
            </a:r>
            <a:endParaRPr b="1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/>
          <p:nvPr>
            <p:ph type="title"/>
          </p:nvPr>
        </p:nvSpPr>
        <p:spPr>
          <a:xfrm>
            <a:off x="443100" y="87498"/>
            <a:ext cx="55344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Franklin Gothic"/>
              <a:buNone/>
            </a:pPr>
            <a:r>
              <a:rPr lang="en-US" sz="286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Idea/Approach Details</a:t>
            </a:r>
            <a:endParaRPr sz="286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"/>
          <p:cNvSpPr txBox="1"/>
          <p:nvPr>
            <p:ph idx="12" type="sldNum"/>
          </p:nvPr>
        </p:nvSpPr>
        <p:spPr>
          <a:xfrm>
            <a:off x="952500" y="657987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"/>
          <p:cNvSpPr/>
          <p:nvPr/>
        </p:nvSpPr>
        <p:spPr>
          <a:xfrm>
            <a:off x="488700" y="1461600"/>
            <a:ext cx="2864100" cy="610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0" name="Google Shape;220;p2"/>
          <p:cNvSpPr txBox="1"/>
          <p:nvPr/>
        </p:nvSpPr>
        <p:spPr>
          <a:xfrm>
            <a:off x="8267700" y="100050"/>
            <a:ext cx="3924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Arial"/>
              <a:buNone/>
            </a:pPr>
            <a:r>
              <a:rPr b="1" i="0" lang="en-US" sz="2850" u="none" cap="none" strike="noStrik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Technology Stack</a:t>
            </a:r>
            <a:endParaRPr b="0" i="0" sz="285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"/>
          <p:cNvSpPr txBox="1"/>
          <p:nvPr/>
        </p:nvSpPr>
        <p:spPr>
          <a:xfrm>
            <a:off x="443100" y="726450"/>
            <a:ext cx="7724400" cy="1287300"/>
          </a:xfrm>
          <a:prstGeom prst="rect">
            <a:avLst/>
          </a:prstGeom>
          <a:solidFill>
            <a:srgbClr val="C8DF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Enterprise Architecture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hosted on a 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Cloud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with 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Kubernetes Cluster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of m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ultiple </a:t>
            </a: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AI Powered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Load Balanced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DNS Servers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with DNS over UDP/DTLS/HTTPS support and high performance 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DNS Cache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that 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filter malicious DNS Domains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based on the </a:t>
            </a: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domain categories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maintained in a 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Distributed Blacklist Database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which is shared between the servers and dynamically updated using an 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AI Engine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with malicious query filtering support and a performance monitoring 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Dashboard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2" name="Google Shape;222;p2"/>
          <p:cNvSpPr txBox="1"/>
          <p:nvPr/>
        </p:nvSpPr>
        <p:spPr>
          <a:xfrm rot="-5400000">
            <a:off x="311250" y="1068450"/>
            <a:ext cx="721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IDEA</a:t>
            </a:r>
            <a:endParaRPr b="1">
              <a:solidFill>
                <a:schemeClr val="accent5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23" name="Google Shape;223;p2"/>
          <p:cNvGrpSpPr/>
          <p:nvPr/>
        </p:nvGrpSpPr>
        <p:grpSpPr>
          <a:xfrm>
            <a:off x="443100" y="2160700"/>
            <a:ext cx="7724400" cy="3155100"/>
            <a:chOff x="276600" y="2160788"/>
            <a:chExt cx="7724400" cy="3155100"/>
          </a:xfrm>
        </p:grpSpPr>
        <p:sp>
          <p:nvSpPr>
            <p:cNvPr id="224" name="Google Shape;224;p2"/>
            <p:cNvSpPr txBox="1"/>
            <p:nvPr/>
          </p:nvSpPr>
          <p:spPr>
            <a:xfrm>
              <a:off x="276600" y="2160788"/>
              <a:ext cx="7724400" cy="31551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High-Performance DNS Resolution</a:t>
              </a:r>
              <a:endParaRPr b="1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rgbClr val="98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Stateless Servers</a:t>
              </a:r>
              <a:r>
                <a:rPr i="1"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: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requests without relying on any local session or state data, making them more </a:t>
              </a:r>
              <a:r>
                <a:rPr lang="en-US" sz="1200">
                  <a:solidFill>
                    <a:srgbClr val="FF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resilient 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and </a:t>
              </a:r>
              <a:r>
                <a:rPr lang="en-US" sz="1200">
                  <a:solidFill>
                    <a:srgbClr val="FF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scalable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.</a:t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rgbClr val="98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In-memory Caching</a:t>
              </a:r>
              <a:r>
                <a:rPr lang="en-US" sz="1200">
                  <a:solidFill>
                    <a:srgbClr val="98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: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DNS queries in memory for </a:t>
              </a:r>
              <a:r>
                <a:rPr lang="en-US" sz="1200">
                  <a:solidFill>
                    <a:srgbClr val="FF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rapid response times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.</a:t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Dynamic Blocking Mechanism</a:t>
              </a:r>
              <a:endParaRPr b="1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rgbClr val="98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Real-time Threat Intelligence Integration: </a:t>
              </a:r>
              <a:r>
                <a:rPr lang="en-US" sz="1200">
                  <a:solidFill>
                    <a:srgbClr val="FF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Continuously update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the blacklist.</a:t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rgbClr val="98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Machine Learning Models: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Train </a:t>
              </a:r>
              <a:r>
                <a:rPr lang="en-US" sz="1200">
                  <a:solidFill>
                    <a:srgbClr val="FF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AI models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to identify new malicious domains or false positives.</a:t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rgbClr val="98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Flexible Policy Management: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</a:t>
              </a:r>
              <a:r>
                <a:rPr lang="en-US" sz="1200">
                  <a:solidFill>
                    <a:srgbClr val="FF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Customize 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blacklist, whitelist, and content filtering policies.</a:t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Security Enhancements</a:t>
              </a:r>
              <a:endParaRPr b="1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rgbClr val="98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Containerization</a:t>
              </a:r>
              <a:r>
                <a:rPr b="1" lang="en-US" sz="1200">
                  <a:solidFill>
                    <a:srgbClr val="98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: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Kubernetes for </a:t>
              </a:r>
              <a:r>
                <a:rPr lang="en-US" sz="1200">
                  <a:solidFill>
                    <a:srgbClr val="FF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containerizing 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the DNS service.</a:t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User Interface</a:t>
              </a:r>
              <a:endParaRPr b="1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200">
                  <a:solidFill>
                    <a:srgbClr val="98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Web Dashboard: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A </a:t>
              </a:r>
              <a:r>
                <a:rPr lang="en-US" sz="1200">
                  <a:solidFill>
                    <a:srgbClr val="FF0000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web-based dashboard with analytics</a:t>
              </a: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for admin to manage their settings, view statistics, and generate reports.</a:t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	</a:t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45720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  <a:p>
              <a:pPr indent="0" lvl="0" marL="0" rtl="0" algn="just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	</a:t>
              </a:r>
              <a:endPara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5" name="Google Shape;225;p2"/>
            <p:cNvSpPr txBox="1"/>
            <p:nvPr/>
          </p:nvSpPr>
          <p:spPr>
            <a:xfrm rot="-5400000">
              <a:off x="-776400" y="3564938"/>
              <a:ext cx="2563500" cy="36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5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UNIQUE FEATURES</a:t>
              </a:r>
              <a:endParaRPr b="1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26" name="Google Shape;226;p2"/>
          <p:cNvSpPr txBox="1"/>
          <p:nvPr/>
        </p:nvSpPr>
        <p:spPr>
          <a:xfrm>
            <a:off x="443100" y="5470600"/>
            <a:ext cx="7724400" cy="1287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5143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Zero Trust DNS						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  Rigorous DNS request validation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Smart Caching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						-   High Performance, reduced latency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Adaptive Threat Intelligence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				-   AI/ML-driven threat adaptation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Real-time Phishing and Anomaly Detection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		-   Instant threat identification and response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Customizable Threat Response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			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  Tailored security responses for domains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Interactive Threat Visualization Dashboard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		-   User-friendly threat data exploration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7" name="Google Shape;227;p2"/>
          <p:cNvSpPr txBox="1"/>
          <p:nvPr/>
        </p:nvSpPr>
        <p:spPr>
          <a:xfrm rot="-5400000">
            <a:off x="133650" y="5931075"/>
            <a:ext cx="10764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NOVELTY</a:t>
            </a:r>
            <a:endParaRPr b="1">
              <a:solidFill>
                <a:schemeClr val="accent5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8" name="Google Shape;228;p2"/>
          <p:cNvSpPr txBox="1"/>
          <p:nvPr/>
        </p:nvSpPr>
        <p:spPr>
          <a:xfrm>
            <a:off x="8330425" y="726450"/>
            <a:ext cx="3517800" cy="2258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User Dashboard:</a:t>
            </a:r>
            <a:endParaRPr b="1"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	</a:t>
            </a:r>
            <a:r>
              <a:rPr i="1" lang="en-US" sz="1200">
                <a:latin typeface="Libre Franklin"/>
                <a:ea typeface="Libre Franklin"/>
                <a:cs typeface="Libre Franklin"/>
                <a:sym typeface="Libre Franklin"/>
              </a:rPr>
              <a:t>Front-End: </a:t>
            </a: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		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React.js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latin typeface="Libre Franklin"/>
                <a:ea typeface="Libre Franklin"/>
                <a:cs typeface="Libre Franklin"/>
                <a:sym typeface="Libre Franklin"/>
              </a:rPr>
              <a:t>Back-End:</a:t>
            </a: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 		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Django (DRF)</a:t>
            </a:r>
            <a:endParaRPr b="1"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Cache Server: 		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Nginx</a:t>
            </a:r>
            <a:endParaRPr b="1"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DNS Server: 		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Unbound</a:t>
            </a:r>
            <a:endParaRPr b="1"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Log: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 				Fluentd,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MongoDB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Threat Intelligence: 	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MISP, CIRCL OSINT</a:t>
            </a:r>
            <a:endParaRPr b="1"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Monitoring: 			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Prometheus, ELK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9" name="Google Shape;229;p2"/>
          <p:cNvSpPr txBox="1"/>
          <p:nvPr/>
        </p:nvSpPr>
        <p:spPr>
          <a:xfrm>
            <a:off x="8330425" y="4626950"/>
            <a:ext cx="3517800" cy="21312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Data Sources:</a:t>
            </a:r>
            <a:endParaRPr b="1"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Malware and Phishing: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-"/>
            </a:pP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Phishtank 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-"/>
            </a:pP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Phishstorm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-"/>
            </a:pP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Shallalist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DGA Datasets: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ibre Franklin"/>
              <a:buChar char="-"/>
            </a:pP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DGA-botnet Dataset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ibre Franklin"/>
              <a:buChar char="-"/>
            </a:pP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URL-ISCX Dataset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DNS Blacklists: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ibre Franklin"/>
              <a:buChar char="-"/>
            </a:pP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DNSBL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ibre Franklin"/>
              <a:buChar char="-"/>
            </a:pP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CIC-Bell-DNS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	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0" name="Google Shape;230;p2"/>
          <p:cNvSpPr txBox="1"/>
          <p:nvPr/>
        </p:nvSpPr>
        <p:spPr>
          <a:xfrm>
            <a:off x="8330425" y="3107200"/>
            <a:ext cx="3517800" cy="13977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AI Engine</a:t>
            </a: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 		</a:t>
            </a:r>
            <a:endParaRPr b="1" sz="1200">
              <a:solidFill>
                <a:srgbClr val="98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Malicious, Phishing Domain Classification: </a:t>
            </a:r>
            <a:endParaRPr i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Ensemble Model with SVM  and XGBoost </a:t>
            </a: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(Accuracy: 97.7%)</a:t>
            </a:r>
            <a:endParaRPr i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DGA Domain Identification: </a:t>
            </a:r>
            <a:endParaRPr i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LSTM and Transformer (DistilBERT)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(Accuracy: 98.1%)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954ba24bf0_7_5"/>
          <p:cNvSpPr txBox="1"/>
          <p:nvPr/>
        </p:nvSpPr>
        <p:spPr>
          <a:xfrm>
            <a:off x="322950" y="223050"/>
            <a:ext cx="51435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0" i="0" lang="en-US" sz="285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System </a:t>
            </a:r>
            <a:r>
              <a:rPr lang="en-US" sz="285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Architecture</a:t>
            </a:r>
            <a:endParaRPr b="0" i="0" sz="2850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37" name="Google Shape;237;g2954ba24bf0_7_5"/>
          <p:cNvSpPr txBox="1"/>
          <p:nvPr>
            <p:ph idx="12" type="sldNum"/>
          </p:nvPr>
        </p:nvSpPr>
        <p:spPr>
          <a:xfrm>
            <a:off x="971550" y="6332220"/>
            <a:ext cx="523200" cy="2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8" name="Google Shape;238;g2954ba24bf0_7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50" y="713550"/>
            <a:ext cx="8272118" cy="601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g2954ba24bf0_7_5"/>
          <p:cNvSpPr txBox="1"/>
          <p:nvPr/>
        </p:nvSpPr>
        <p:spPr>
          <a:xfrm>
            <a:off x="5137200" y="787900"/>
            <a:ext cx="6718200" cy="26412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DNS Cache Proxy Servers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Nginx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DNS Proxy which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caches DNS requests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and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proxy DNS requests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to multiple DNS Resolver servers. These servers will also serve the “Domain Blocked” page.</a:t>
            </a:r>
            <a:endParaRPr b="1" sz="1200">
              <a:solidFill>
                <a:srgbClr val="98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DNS Resolver Servers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Unbound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DNS Caching servers which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serves the benign DNS requests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from Redis Cache and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redirects malicious domain requests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found in Blacklist database to a block page.</a:t>
            </a:r>
            <a:endParaRPr b="1" sz="1200">
              <a:solidFill>
                <a:srgbClr val="98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Blacklist Database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CockroachDB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distributed database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which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maintains domain categories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 malware, phishing, adware, botnet (DGA) domains etc. and updated by the AI Engine.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AI Engine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Machine Learning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multi-class classification  and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Deep Learning Algorithms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to classify the domains trained on the datasets updating the database on a real-time basis. 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Threat Intelligence Engine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Identifies threats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from feeds such as MISP, AbuseIPDB, CIRCL OSINT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0" name="Google Shape;240;g2954ba24bf0_7_5"/>
          <p:cNvSpPr txBox="1"/>
          <p:nvPr/>
        </p:nvSpPr>
        <p:spPr>
          <a:xfrm>
            <a:off x="8686800" y="3833125"/>
            <a:ext cx="3168600" cy="2828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Load Balancer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HAProxy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which</a:t>
            </a:r>
            <a:r>
              <a:rPr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load balances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incoming DNS Traffic to multiple servers.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DNS Cache Proxy Servers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Nginx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DNS Proxy which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caches DNS requests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and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proxy DNS requests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to multiple DNS Resolver servers. These servers will also serve the “Domain Blocked” page.</a:t>
            </a:r>
            <a:endParaRPr b="1" sz="1200">
              <a:solidFill>
                <a:srgbClr val="98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Log Database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i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MongoDB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database to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stores logs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from all servers.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Monitoring Engine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Monitors the logs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, traffic,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detects anomaly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and  </a:t>
            </a:r>
            <a:r>
              <a:rPr lang="en-US" sz="1200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generates alerts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"/>
          <p:cNvSpPr txBox="1"/>
          <p:nvPr/>
        </p:nvSpPr>
        <p:spPr>
          <a:xfrm>
            <a:off x="448125" y="5324988"/>
            <a:ext cx="51435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0" i="0" lang="en-US" sz="230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Show Stopper</a:t>
            </a:r>
            <a:r>
              <a:rPr b="0" i="0" lang="en-US" sz="2300" u="none" cap="none" strike="noStrike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"/>
          <p:cNvSpPr txBox="1"/>
          <p:nvPr/>
        </p:nvSpPr>
        <p:spPr>
          <a:xfrm>
            <a:off x="448125" y="61200"/>
            <a:ext cx="514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0" i="0" lang="en-US" sz="2850" u="none" cap="none" strike="noStrik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Use Cases</a:t>
            </a:r>
            <a:endParaRPr b="0" i="0" sz="2850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47" name="Google Shape;247;p3"/>
          <p:cNvSpPr txBox="1"/>
          <p:nvPr/>
        </p:nvSpPr>
        <p:spPr>
          <a:xfrm>
            <a:off x="438600" y="5744725"/>
            <a:ext cx="11314800" cy="58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</a:pPr>
            <a:r>
              <a:rPr b="1"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False positives: </a:t>
            </a:r>
            <a:r>
              <a:rPr lang="en-US"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 minimize wrong classifications, regular updates and improvements to the models are necessary, along with a feedback system that allows users to report misclassifications.</a:t>
            </a:r>
            <a:endParaRPr sz="12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8" name="Google Shape;248;p3"/>
          <p:cNvSpPr txBox="1"/>
          <p:nvPr/>
        </p:nvSpPr>
        <p:spPr>
          <a:xfrm>
            <a:off x="448125" y="624600"/>
            <a:ext cx="4502700" cy="4467000"/>
          </a:xfrm>
          <a:prstGeom prst="rect">
            <a:avLst/>
          </a:prstGeom>
          <a:solidFill>
            <a:srgbClr val="C8DF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Comprehensive Internet Access Protection: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 Our solution ensures the safeguarding of internet access, extending its coverage to all network devices, office locations, and roaming users.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Robust DNS Activity Logging: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 We maintain detailed logs of DNS activity, categorizing it based on security threats or web content types and recording the corresponding actions taken, whether it was allowed or blocked.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Long-Term Data Retention: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 Our system securely retains activity logs for 30 days, with the option for export to enable longer retention, facilitating in-depth investigations when necessary.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Rapid Deployment: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 Implemented swiftly, our solution efficiently covers a multitude of locations and users within minutes, ensuring an immediate return on investment.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Comprehensive Reporting: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 Our reporting capabilities are extensive, providing detailed insights into internet activity, including full URL addresses, network identity, actions taken (allow or block), and external IP addresses.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Libre Franklin"/>
                <a:ea typeface="Libre Franklin"/>
                <a:cs typeface="Libre Franklin"/>
                <a:sym typeface="Libre Franklin"/>
              </a:rPr>
              <a:t>Policy Enforcement and Compliance:</a:t>
            </a:r>
            <a:r>
              <a:rPr lang="en-US" sz="1200">
                <a:latin typeface="Libre Franklin"/>
                <a:ea typeface="Libre Franklin"/>
                <a:cs typeface="Libre Franklin"/>
                <a:sym typeface="Libre Franklin"/>
              </a:rPr>
              <a:t> We offer content filtering by category or specific URLs to enforce policies and compliance regulations, blocking destinations that violate established guidelines.</a:t>
            </a:r>
            <a:endParaRPr sz="1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49" name="Google Shape;249;p3"/>
          <p:cNvPicPr preferRelativeResize="0"/>
          <p:nvPr/>
        </p:nvPicPr>
        <p:blipFill rotWithShape="1">
          <a:blip r:embed="rId3">
            <a:alphaModFix/>
          </a:blip>
          <a:srcRect b="0" l="8237" r="12169" t="0"/>
          <a:stretch/>
        </p:blipFill>
        <p:spPr>
          <a:xfrm>
            <a:off x="5233287" y="736797"/>
            <a:ext cx="3463651" cy="2658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"/>
          <p:cNvPicPr preferRelativeResize="0"/>
          <p:nvPr/>
        </p:nvPicPr>
        <p:blipFill rotWithShape="1">
          <a:blip r:embed="rId4">
            <a:alphaModFix/>
          </a:blip>
          <a:srcRect b="0" l="10302" r="19942" t="36880"/>
          <a:stretch/>
        </p:blipFill>
        <p:spPr>
          <a:xfrm>
            <a:off x="9121925" y="736788"/>
            <a:ext cx="2904875" cy="24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"/>
          <p:cNvSpPr txBox="1"/>
          <p:nvPr/>
        </p:nvSpPr>
        <p:spPr>
          <a:xfrm>
            <a:off x="5591625" y="61200"/>
            <a:ext cx="5143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2850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Output Results</a:t>
            </a:r>
            <a:endParaRPr b="0" i="0" sz="2850" u="none" cap="none" strike="noStrike">
              <a:solidFill>
                <a:srgbClr val="00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52" name="Google Shape;252;p3"/>
          <p:cNvSpPr txBox="1"/>
          <p:nvPr/>
        </p:nvSpPr>
        <p:spPr>
          <a:xfrm>
            <a:off x="9121913" y="415350"/>
            <a:ext cx="29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Training</a:t>
            </a:r>
            <a:r>
              <a:rPr b="1" i="1" lang="en-US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of ml model</a:t>
            </a:r>
            <a:endParaRPr b="1" i="1">
              <a:solidFill>
                <a:srgbClr val="98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3" name="Google Shape;253;p3"/>
          <p:cNvSpPr txBox="1"/>
          <p:nvPr/>
        </p:nvSpPr>
        <p:spPr>
          <a:xfrm>
            <a:off x="5809650" y="415350"/>
            <a:ext cx="204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Testing</a:t>
            </a:r>
            <a:r>
              <a:rPr b="1" i="1" lang="en-US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of ml model</a:t>
            </a:r>
            <a:endParaRPr b="1" i="1">
              <a:solidFill>
                <a:srgbClr val="98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54" name="Google Shape;254;p3"/>
          <p:cNvSpPr txBox="1"/>
          <p:nvPr/>
        </p:nvSpPr>
        <p:spPr>
          <a:xfrm>
            <a:off x="8979388" y="3228900"/>
            <a:ext cx="29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Kubernetes Configuration</a:t>
            </a:r>
            <a:endParaRPr b="1" i="1">
              <a:solidFill>
                <a:srgbClr val="98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55" name="Google Shape;25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0125" y="3624675"/>
            <a:ext cx="1843450" cy="207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1800" y="3624665"/>
            <a:ext cx="2286492" cy="204499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"/>
          <p:cNvSpPr txBox="1"/>
          <p:nvPr/>
        </p:nvSpPr>
        <p:spPr>
          <a:xfrm>
            <a:off x="5512650" y="3228900"/>
            <a:ext cx="290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>
                <a:solidFill>
                  <a:srgbClr val="98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Script for Updating Blacklists</a:t>
            </a:r>
            <a:endParaRPr b="1" i="1">
              <a:solidFill>
                <a:srgbClr val="98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"/>
          <p:cNvSpPr txBox="1"/>
          <p:nvPr>
            <p:ph type="title"/>
          </p:nvPr>
        </p:nvSpPr>
        <p:spPr>
          <a:xfrm>
            <a:off x="964023" y="879063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Team Member Details </a:t>
            </a:r>
            <a:endParaRPr/>
          </a:p>
        </p:txBody>
      </p:sp>
      <p:sp>
        <p:nvSpPr>
          <p:cNvPr id="263" name="Google Shape;263;p4"/>
          <p:cNvSpPr txBox="1"/>
          <p:nvPr>
            <p:ph idx="1" type="body"/>
          </p:nvPr>
        </p:nvSpPr>
        <p:spPr>
          <a:xfrm>
            <a:off x="964023" y="2062099"/>
            <a:ext cx="11145000" cy="47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500"/>
              <a:t>Team Leader Name:</a:t>
            </a:r>
            <a:r>
              <a:rPr b="1" lang="en-US" sz="1500">
                <a:solidFill>
                  <a:srgbClr val="5D7C3F"/>
                </a:solidFill>
              </a:rPr>
              <a:t> 		Issac Gladin S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500"/>
              <a:t>Branch  :  B.Tech.		           Stream : CSE		Year : IV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500"/>
              <a:t>Team Member 1 Name:</a:t>
            </a:r>
            <a:r>
              <a:rPr b="1" lang="en-US" sz="1500">
                <a:solidFill>
                  <a:srgbClr val="5D7C3F"/>
                </a:solidFill>
              </a:rPr>
              <a:t>   		</a:t>
            </a:r>
            <a:r>
              <a:rPr b="1" lang="en-US" sz="1500">
                <a:solidFill>
                  <a:srgbClr val="5D7C3F"/>
                </a:solidFill>
              </a:rPr>
              <a:t>Gifton Paul Immanuel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500"/>
              <a:t>Branch :  </a:t>
            </a:r>
            <a:r>
              <a:rPr lang="en-US" sz="1500"/>
              <a:t>B.Tech.</a:t>
            </a:r>
            <a:r>
              <a:rPr lang="en-US" sz="1500"/>
              <a:t>		          	Stream : CSE		Year : III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500"/>
              <a:t>Team Member 2 Name:</a:t>
            </a:r>
            <a:r>
              <a:rPr b="1" lang="en-US" sz="1500">
                <a:solidFill>
                  <a:srgbClr val="5D7C3F"/>
                </a:solidFill>
              </a:rPr>
              <a:t> 		Bewin Felix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500"/>
              <a:t>Branch : </a:t>
            </a:r>
            <a:r>
              <a:rPr lang="en-US" sz="1500"/>
              <a:t>B.Tech.</a:t>
            </a:r>
            <a:r>
              <a:rPr lang="en-US" sz="1500"/>
              <a:t>		         		Stream : CSE 		Year : III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500"/>
              <a:t>Team Member 3 Name:	</a:t>
            </a:r>
            <a:r>
              <a:rPr b="1" lang="en-US" sz="1500">
                <a:solidFill>
                  <a:srgbClr val="5D7C3F"/>
                </a:solidFill>
              </a:rPr>
              <a:t>	</a:t>
            </a:r>
            <a:r>
              <a:rPr b="1" lang="en-US" sz="1500">
                <a:solidFill>
                  <a:srgbClr val="5D7C3F"/>
                </a:solidFill>
              </a:rPr>
              <a:t>Shirlyn Jenita J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500"/>
              <a:t>Branch : B.Sc.		         		Stream : CS		Y</a:t>
            </a:r>
            <a:r>
              <a:rPr lang="en-US" sz="1500"/>
              <a:t>ear </a:t>
            </a:r>
            <a:r>
              <a:rPr lang="en-US" sz="1500"/>
              <a:t>: III</a:t>
            </a:r>
            <a:endParaRPr b="1" sz="1500">
              <a:solidFill>
                <a:srgbClr val="5D7C3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500"/>
              <a:t>Team Member 4 Name:</a:t>
            </a:r>
            <a:r>
              <a:rPr b="1" lang="en-US" sz="1500">
                <a:solidFill>
                  <a:srgbClr val="5D7C3F"/>
                </a:solidFill>
              </a:rPr>
              <a:t> 		Allen Matthew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500"/>
              <a:t>Branch : </a:t>
            </a:r>
            <a:r>
              <a:rPr lang="en-US" sz="1500"/>
              <a:t>B.Tech.</a:t>
            </a:r>
            <a:r>
              <a:rPr lang="en-US" sz="1500"/>
              <a:t>		        		Stream : CSE		Year : II 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Font typeface="Arial"/>
              <a:buNone/>
            </a:pPr>
            <a:r>
              <a:rPr b="1" lang="en-US" sz="1500"/>
              <a:t>Team Member 5 Name:</a:t>
            </a:r>
            <a:r>
              <a:rPr b="1" lang="en-US" sz="1500">
                <a:solidFill>
                  <a:srgbClr val="5D7C3F"/>
                </a:solidFill>
              </a:rPr>
              <a:t> 		Jerin Stalin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500"/>
              <a:t>Branch : B.Tech.		         		Stream : CSE	            Year : I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b="1" lang="en-US" sz="1500">
                <a:solidFill>
                  <a:srgbClr val="804160"/>
                </a:solidFill>
              </a:rPr>
              <a:t>Team Mentor 1 Name: 		Prof. S E Vinodh Ewards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500"/>
              <a:t>Category : Industry 	        		Expertise: </a:t>
            </a:r>
            <a:r>
              <a:rPr lang="en-US" sz="1500">
                <a:solidFill>
                  <a:srgbClr val="000001"/>
                </a:solidFill>
              </a:rPr>
              <a:t>AI / ML / Cyber Security / Networking</a:t>
            </a:r>
            <a:r>
              <a:rPr lang="en-US" sz="1500"/>
              <a:t>	   	Domain Experience: 19 years   </a:t>
            </a:r>
            <a:endParaRPr sz="15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500"/>
              <a:t>   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2022-02-11T07:14:46Z</dcterms:created>
  <dc:creator>Sarim Moin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